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handoutMasterIdLst>
    <p:handoutMasterId r:id="rId17"/>
  </p:handoutMasterIdLst>
  <p:sldIdLst>
    <p:sldId id="256" r:id="rId6"/>
    <p:sldId id="268" r:id="rId7"/>
    <p:sldId id="261" r:id="rId8"/>
    <p:sldId id="273" r:id="rId9"/>
    <p:sldId id="274" r:id="rId10"/>
    <p:sldId id="277" r:id="rId11"/>
    <p:sldId id="282" r:id="rId12"/>
    <p:sldId id="278" r:id="rId13"/>
    <p:sldId id="280" r:id="rId14"/>
    <p:sldId id="281" r:id="rId15"/>
    <p:sldId id="28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880"/>
    <a:srgbClr val="FFDF7D"/>
    <a:srgbClr val="66B3E4"/>
    <a:srgbClr val="ECECEC"/>
    <a:srgbClr val="7FA3BF"/>
    <a:srgbClr val="595959"/>
    <a:srgbClr val="F9F0E0"/>
    <a:srgbClr val="F2F7FA"/>
    <a:srgbClr val="E7E2CA"/>
    <a:srgbClr val="E1EB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C412D67-2B4E-9F55-6EDC-F2256BD021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668C3D-E520-C942-CFB7-27E263C06F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5296E7-6EEA-4CEF-8F27-97AAB1939405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EDE418-482A-7A43-F10A-2705951C1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D5FD8-B708-FF93-D8FD-7A2F3AD618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8EA95-EEDE-466E-B94C-8B572EEF9C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9948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0EA10B1E-4FA2-D72F-F444-DB648FFEBB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" t="1147" b="4270"/>
          <a:stretch/>
        </p:blipFill>
        <p:spPr>
          <a:xfrm>
            <a:off x="-28124" y="0"/>
            <a:ext cx="12220123" cy="68580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6931615-3EFD-406D-8CAB-500F498BBC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9891" y="3006522"/>
            <a:ext cx="8937171" cy="1421928"/>
          </a:xfrm>
          <a:noFill/>
        </p:spPr>
        <p:txBody>
          <a:bodyPr wrap="square" rtlCol="0">
            <a:spAutoFit/>
          </a:bodyPr>
          <a:lstStyle>
            <a:lvl1pPr>
              <a:defRPr lang="en-US" sz="4800" b="1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pPr marL="0"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1413D66-879B-990C-642E-1E1E0D8F30F0}"/>
              </a:ext>
            </a:extLst>
          </p:cNvPr>
          <p:cNvSpPr txBox="1">
            <a:spLocks/>
          </p:cNvSpPr>
          <p:nvPr userDrawn="1"/>
        </p:nvSpPr>
        <p:spPr>
          <a:xfrm>
            <a:off x="1089891" y="4473456"/>
            <a:ext cx="8937171" cy="438582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r>
              <a:rPr lang="en-US" sz="2500" dirty="0"/>
              <a:t>Click to edit Master 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5EFC81-BEEE-352B-0244-DD36B67B80C9}"/>
              </a:ext>
            </a:extLst>
          </p:cNvPr>
          <p:cNvSpPr txBox="1">
            <a:spLocks/>
          </p:cNvSpPr>
          <p:nvPr userDrawn="1"/>
        </p:nvSpPr>
        <p:spPr>
          <a:xfrm>
            <a:off x="1089890" y="5263013"/>
            <a:ext cx="8937171" cy="587533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pPr>
              <a:lnSpc>
                <a:spcPts val="2000"/>
              </a:lnSpc>
            </a:pPr>
            <a:r>
              <a:rPr lang="en-US" sz="1400" b="1" dirty="0"/>
              <a:t>Presenter Name</a:t>
            </a:r>
          </a:p>
          <a:p>
            <a:pPr>
              <a:lnSpc>
                <a:spcPts val="2000"/>
              </a:lnSpc>
            </a:pPr>
            <a:r>
              <a:rPr lang="en-US" sz="1400" b="0" dirty="0"/>
              <a:t>Month, 20XX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A4A541-3236-7C7A-108F-C328E38F39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934" y="323988"/>
            <a:ext cx="2323604" cy="66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5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9B01B99F-2CE5-433C-8F7A-483D41C4A9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27D409DF-402A-DD18-BFCE-8888573143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23" name="Marcador de número de diapositiva 5">
            <a:extLst>
              <a:ext uri="{FF2B5EF4-FFF2-40B4-BE49-F238E27FC236}">
                <a16:creationId xmlns:a16="http://schemas.microsoft.com/office/drawing/2014/main" id="{B982187F-CBBE-F09C-0F6F-730E0F0B1244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E5456A7-BE66-D18D-4755-5BE1D37DDEF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400" y="1822450"/>
            <a:ext cx="11125200" cy="4351338"/>
          </a:xfrm>
        </p:spPr>
        <p:txBody>
          <a:bodyPr>
            <a:normAutofit/>
          </a:bodyPr>
          <a:lstStyle>
            <a:lvl1pPr>
              <a:defRPr lang="en-US" sz="12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12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2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2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2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235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32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orient="horz" pos="288" userDrawn="1">
          <p15:clr>
            <a:srgbClr val="FBAE40"/>
          </p15:clr>
        </p15:guide>
        <p15:guide id="4" pos="734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1"/>
          <a:lstStyle>
            <a:lvl1pPr>
              <a:lnSpc>
                <a:spcPts val="1700"/>
              </a:lnSpc>
              <a:defRPr lang="en-US" sz="2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438F9EE4-1525-DA32-B6BF-F9D4E4DA00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E9EC46A4-50CA-5032-642E-472F2C66E949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865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2">
            <a:normAutofit/>
          </a:bodyPr>
          <a:lstStyle>
            <a:lvl1pPr>
              <a:lnSpc>
                <a:spcPts val="1700"/>
              </a:lnSpc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BAEB0E49-39B0-037C-0357-6C4472DC15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4E4B298F-D75D-0E89-ED3D-DF0CF1A87E27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657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3">
            <a:normAutofit/>
          </a:bodyPr>
          <a:lstStyle>
            <a:lvl1pPr>
              <a:lnSpc>
                <a:spcPts val="1700"/>
              </a:lnSpc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07F8B13B-8E7C-F321-BF83-177D747B10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4BB16B3F-018F-71E7-B239-96DA6F36DEB4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45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CF55D43F-875F-4E2B-82B9-5EEDDAEA6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89299"/>
            <a:ext cx="8610601" cy="2852737"/>
          </a:xfrm>
        </p:spPr>
        <p:txBody>
          <a:bodyPr anchor="b">
            <a:normAutofit/>
          </a:bodyPr>
          <a:lstStyle>
            <a:lvl1pPr>
              <a:defRPr lang="en-US" sz="4400" b="1" kern="1200" dirty="0">
                <a:solidFill>
                  <a:srgbClr val="595959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18B4745-7445-43DB-B108-3CDCB28A7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3869024"/>
            <a:ext cx="8610602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595959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424433-CA37-48A1-EF7E-E44DEC894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0" name="Picture 9" descr="Background pattern&#10;&#10;Description automatically generated">
            <a:extLst>
              <a:ext uri="{FF2B5EF4-FFF2-40B4-BE49-F238E27FC236}">
                <a16:creationId xmlns:a16="http://schemas.microsoft.com/office/drawing/2014/main" id="{7B593DD1-E696-84F5-997E-395CB4B340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179C2830-1743-9FEA-4F66-BCE7925B9DB5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86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A6A7051-5A82-D471-602E-39E158F6B1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81628252-EFFE-45BA-BB6B-80B43271D7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242" y="1508588"/>
            <a:ext cx="5864980" cy="2852737"/>
          </a:xfrm>
        </p:spPr>
        <p:txBody>
          <a:bodyPr anchor="b">
            <a:normAutofit/>
          </a:bodyPr>
          <a:lstStyle>
            <a:lvl1pPr>
              <a:defRPr lang="en-US" sz="44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title style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994D909-A7BC-465C-8A9B-65471E73F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3242" y="4388313"/>
            <a:ext cx="58649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921F3B-DFDD-3880-4A59-92315D909E94}"/>
              </a:ext>
            </a:extLst>
          </p:cNvPr>
          <p:cNvSpPr txBox="1"/>
          <p:nvPr userDrawn="1"/>
        </p:nvSpPr>
        <p:spPr>
          <a:xfrm>
            <a:off x="3048000" y="6425185"/>
            <a:ext cx="6096000" cy="248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000" dirty="0">
                <a:solidFill>
                  <a:schemeClr val="bg2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©</a:t>
            </a:r>
            <a:r>
              <a:rPr lang="en-US" sz="1000" dirty="0" err="1">
                <a:solidFill>
                  <a:schemeClr val="bg2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LTIMindtree</a:t>
            </a:r>
            <a:r>
              <a:rPr lang="en-US" sz="1000" dirty="0">
                <a:solidFill>
                  <a:schemeClr val="bg2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 | Privileged and Confidential 2022</a:t>
            </a:r>
            <a:endParaRPr lang="en-IN" sz="1000" dirty="0">
              <a:solidFill>
                <a:schemeClr val="bg2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7DD45-CE2E-85E8-642D-93DED37DD35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100000" contrast="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228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DD9C106-CE49-4F1B-A6DE-3C9818CAFB5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399" y="1655302"/>
            <a:ext cx="5486399" cy="4351338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E8BB916-CDFC-439C-B0EF-513AE7B06AC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172201" y="1655302"/>
            <a:ext cx="5486398" cy="4351338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78651CBE-E342-762C-71AB-7A346C0BD1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0D37EA21-4965-A1A5-EFE5-F1DB9D9A98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CACE2F8E-F80A-F347-8E9C-243A79D7388E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278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04641-62E4-4217-A4FB-1461DCB34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436914"/>
            <a:ext cx="5533119" cy="1068161"/>
          </a:xfrm>
        </p:spPr>
        <p:txBody>
          <a:bodyPr anchor="b">
            <a:noAutofit/>
          </a:bodyPr>
          <a:lstStyle>
            <a:lvl1pPr marL="0" indent="0">
              <a:buNone/>
              <a:defRPr lang="en-US" sz="2400" b="1" kern="1200" dirty="0">
                <a:solidFill>
                  <a:srgbClr val="595959"/>
                </a:solidFill>
                <a:latin typeface="+mj-lt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BF8DFE-7699-41E5-ACEB-81719A7EB9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1141" y="1436914"/>
            <a:ext cx="5417458" cy="1068161"/>
          </a:xfrm>
        </p:spPr>
        <p:txBody>
          <a:bodyPr anchor="b">
            <a:noAutofit/>
          </a:bodyPr>
          <a:lstStyle>
            <a:lvl1pPr marL="0" indent="0">
              <a:buNone/>
              <a:defRPr lang="en-US" sz="2400" b="1" kern="1200" dirty="0">
                <a:solidFill>
                  <a:srgbClr val="595959"/>
                </a:solidFill>
                <a:latin typeface="+mj-lt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54FF91B-5FE4-409D-BA7F-37376CD5E4A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399" y="2651506"/>
            <a:ext cx="5533119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FDB344D-832A-4E14-93A2-EF0879A2EDA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1141" y="2663457"/>
            <a:ext cx="5417458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EF8A07F5-F0F3-56A0-B462-8A048CE694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0" name="Picture 9" descr="Background pattern&#10;&#10;Description automatically generated">
            <a:extLst>
              <a:ext uri="{FF2B5EF4-FFF2-40B4-BE49-F238E27FC236}">
                <a16:creationId xmlns:a16="http://schemas.microsoft.com/office/drawing/2014/main" id="{4DD8A8A8-2642-F3FA-DCC7-296A6B23D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0A8FC8DD-D1CD-B223-1096-CE2AAC973F80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92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76CF0EE8-1D27-DB0B-D74F-2627C320CB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4" name="Marcador de número de diapositiva 5">
            <a:extLst>
              <a:ext uri="{FF2B5EF4-FFF2-40B4-BE49-F238E27FC236}">
                <a16:creationId xmlns:a16="http://schemas.microsoft.com/office/drawing/2014/main" id="{3CBCC0C3-A39C-312F-C0F0-B965E11FFDA0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0E2AFA92-4A8A-D692-CB16-A5351C9E57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62"/>
            <a:ext cx="5760164" cy="4106844"/>
          </a:xfrm>
          <a:prstGeom prst="rect">
            <a:avLst/>
          </a:prstGeom>
        </p:spPr>
      </p:pic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773A9ED4-9BDF-42B0-B98D-5F105B1AC1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6042" y="961005"/>
            <a:ext cx="8911647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dirty="0">
                <a:solidFill>
                  <a:srgbClr val="595959"/>
                </a:solidFill>
                <a:latin typeface="+mj-lt"/>
              </a:defRPr>
            </a:lvl1pPr>
          </a:lstStyle>
          <a:p>
            <a:pPr marL="0" lvl="0" indent="0"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B90635A-C270-48A0-A1B0-C1B896E998A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663792" y="1712849"/>
            <a:ext cx="8864415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 marL="114300" indent="-342900">
              <a:buFont typeface="Wingdings" pitchFamily="2" charset="2"/>
              <a:buChar char="§"/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 marL="1085850" indent="-285750">
              <a:buFont typeface="Wingdings" pitchFamily="2" charset="2"/>
              <a:buChar char="§"/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 marL="1600200" indent="-285750">
              <a:buFont typeface="Wingdings" pitchFamily="2" charset="2"/>
              <a:buChar char="§"/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buFont typeface="Wingdings" pitchFamily="2" charset="2"/>
              <a:buChar char="§"/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/>
              <a:t>Click to edit Master text styles</a:t>
            </a:r>
          </a:p>
          <a:p>
            <a:pPr marL="228600" lvl="1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/>
              <a:t>Second level</a:t>
            </a:r>
          </a:p>
          <a:p>
            <a:pPr marL="228600" lvl="2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/>
              <a:t>Third level</a:t>
            </a:r>
          </a:p>
          <a:p>
            <a:pPr marL="228600" lvl="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/>
              <a:t>Fourth level</a:t>
            </a:r>
          </a:p>
          <a:p>
            <a:pPr marL="228600" lvl="4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68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15C7D-CC90-4232-9BFD-B2B1B29D3D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400" y="1163411"/>
            <a:ext cx="10515600" cy="1325563"/>
          </a:xfrm>
        </p:spPr>
        <p:txBody>
          <a:bodyPr>
            <a:normAutofit/>
          </a:bodyPr>
          <a:lstStyle>
            <a:lvl1pPr>
              <a:defRPr lang="en-US" sz="2800" b="1" kern="1200" dirty="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Headline goes here</a:t>
            </a:r>
            <a:br>
              <a:rPr lang="en-US" dirty="0"/>
            </a:br>
            <a:r>
              <a:rPr lang="en-US" dirty="0"/>
              <a:t>Headline goes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6252767-4743-47D6-B4D1-07FC2385DD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400" y="2815546"/>
            <a:ext cx="10515600" cy="27432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11611A3D-47D0-3647-0CCE-0CB7D32E6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1" name="Picture 10" descr="Background pattern&#10;&#10;Description automatically generated">
            <a:extLst>
              <a:ext uri="{FF2B5EF4-FFF2-40B4-BE49-F238E27FC236}">
                <a16:creationId xmlns:a16="http://schemas.microsoft.com/office/drawing/2014/main" id="{763F4705-5885-9139-7C1E-5E2F720F7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9314451A-6C5B-D5A1-9DD9-55A1359B67FC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551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6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5CDA55D2-453F-4E7D-AF30-1542DF26E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57200"/>
            <a:ext cx="4293054" cy="16002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1469E54-C50A-4DB5-B104-9B99883176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8972" y="2057400"/>
            <a:ext cx="4293054" cy="3811588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E8A5CEA-5F4E-4109-ACB7-808AE0D5B1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5306569" y="2055542"/>
            <a:ext cx="5181599" cy="3813445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7916254B-43C5-9C82-7FF6-BC881992F7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32BAEA48-FEC5-7F2A-1732-CFFB91C99D61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7957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AB7F8B00-12EF-4751-A034-D733BB7D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57200"/>
            <a:ext cx="4293054" cy="16002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5B0E1B6-489C-4643-9FE5-9D4A936A7B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0"/>
            <a:ext cx="7008812" cy="6857999"/>
          </a:xfrm>
        </p:spPr>
        <p:txBody>
          <a:bodyPr/>
          <a:lstStyle>
            <a:lvl1pPr marL="0" indent="0">
              <a:buNone/>
              <a:defRPr sz="32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A70DA0CC-8337-43E8-B632-01AC9639E7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8972" y="2057400"/>
            <a:ext cx="4293054" cy="3811588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B70154DA-9096-81F4-B455-E3499A1BD4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3" name="Marcador de número de diapositiva 5">
            <a:extLst>
              <a:ext uri="{FF2B5EF4-FFF2-40B4-BE49-F238E27FC236}">
                <a16:creationId xmlns:a16="http://schemas.microsoft.com/office/drawing/2014/main" id="{3D440A3F-6F49-A806-CA5F-776CACB1FDFB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8859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1379A390-F031-B6A4-9699-D7473C2034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4" name="Marcador de número de diapositiva 5">
            <a:extLst>
              <a:ext uri="{FF2B5EF4-FFF2-40B4-BE49-F238E27FC236}">
                <a16:creationId xmlns:a16="http://schemas.microsoft.com/office/drawing/2014/main" id="{BA5E112F-F5E3-1239-9356-9397EE4D0862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9726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63948A3-32FA-5533-16DA-635E26595B61}"/>
              </a:ext>
            </a:extLst>
          </p:cNvPr>
          <p:cNvSpPr/>
          <p:nvPr userDrawn="1"/>
        </p:nvSpPr>
        <p:spPr>
          <a:xfrm flipV="1">
            <a:off x="335168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47ABFF-7AC4-BAD1-41A4-E1FE5B8092EF}"/>
              </a:ext>
            </a:extLst>
          </p:cNvPr>
          <p:cNvSpPr/>
          <p:nvPr userDrawn="1"/>
        </p:nvSpPr>
        <p:spPr>
          <a:xfrm flipV="1">
            <a:off x="53327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963FEE-DF85-5D77-1E01-49124A2CEAF5}"/>
              </a:ext>
            </a:extLst>
          </p:cNvPr>
          <p:cNvSpPr/>
          <p:nvPr userDrawn="1"/>
        </p:nvSpPr>
        <p:spPr>
          <a:xfrm flipV="1">
            <a:off x="617009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653896-D7CD-93EE-8417-E2C2E847A910}"/>
              </a:ext>
            </a:extLst>
          </p:cNvPr>
          <p:cNvSpPr/>
          <p:nvPr userDrawn="1"/>
        </p:nvSpPr>
        <p:spPr>
          <a:xfrm flipV="1">
            <a:off x="8988503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12ACBE6E-5DAE-5B6C-1E92-11C9C66233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6182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15DCB66B-4DA5-68F3-EAAE-A7B0A4F3B1D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8023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416EDE06-9533-67FB-BF24-DF6C76E3E62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99864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90D0B6E-A10C-4C7A-3858-68AF26206F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17060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7A05C422-6C2D-D524-06F6-FEBC6355E17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423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3B1E9743-4863-A723-9C60-5FC5D3DBEA7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5264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CD805F55-EF87-C927-683C-402E3B43493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7105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9318E5AB-5357-32EC-1C6F-7497D78CAEE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89465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8394A-EAF3-AA74-A443-B84109539DEE}"/>
              </a:ext>
            </a:extLst>
          </p:cNvPr>
          <p:cNvSpPr/>
          <p:nvPr userDrawn="1"/>
        </p:nvSpPr>
        <p:spPr>
          <a:xfrm>
            <a:off x="123278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1215128-DC01-82B5-FF95-CD17B9ACB12C}"/>
              </a:ext>
            </a:extLst>
          </p:cNvPr>
          <p:cNvSpPr/>
          <p:nvPr userDrawn="1"/>
        </p:nvSpPr>
        <p:spPr>
          <a:xfrm>
            <a:off x="405119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E91DFC-E616-7C47-DF0B-7E06270BF99C}"/>
              </a:ext>
            </a:extLst>
          </p:cNvPr>
          <p:cNvSpPr/>
          <p:nvPr userDrawn="1"/>
        </p:nvSpPr>
        <p:spPr>
          <a:xfrm>
            <a:off x="686960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9A168DF-9E56-0C0D-7485-F28F78F2D2C0}"/>
              </a:ext>
            </a:extLst>
          </p:cNvPr>
          <p:cNvSpPr/>
          <p:nvPr userDrawn="1"/>
        </p:nvSpPr>
        <p:spPr>
          <a:xfrm>
            <a:off x="9688017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FB3665BC-C3D4-CE79-80F3-7F34FA3ECD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4234" y="3298206"/>
            <a:ext cx="2264685" cy="42556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bold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E06ACF8C-308D-25A7-590F-09AAE35138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52644" y="3298206"/>
            <a:ext cx="2264685" cy="331936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0" name="Text Placeholder 15">
            <a:extLst>
              <a:ext uri="{FF2B5EF4-FFF2-40B4-BE49-F238E27FC236}">
                <a16:creationId xmlns:a16="http://schemas.microsoft.com/office/drawing/2014/main" id="{403A7C49-0A7D-6B23-80B7-E91B87827A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71054" y="3298206"/>
            <a:ext cx="2264685" cy="33027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9F247137-B811-1C0C-3ECF-8920F2723A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89465" y="3298206"/>
            <a:ext cx="2264685" cy="33027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EE57E6F6-95E1-BB44-5A8A-95D03F02DC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6B00E7C7-88E6-A7F9-7356-C605C6E380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3BA9357F-11E9-B623-DB32-AA16F0336D11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563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6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lur&#10;&#10;Description automatically generated">
            <a:extLst>
              <a:ext uri="{FF2B5EF4-FFF2-40B4-BE49-F238E27FC236}">
                <a16:creationId xmlns:a16="http://schemas.microsoft.com/office/drawing/2014/main" id="{EF438032-1F77-BBEA-C7C7-8ED95C652F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6EEB829-6CD0-4395-A39D-7E253A77EA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82435" y="2765913"/>
            <a:ext cx="3601189" cy="132617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4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Thank you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A4C7068-0752-FBFE-5D91-4C5EF463A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882435" y="4233333"/>
            <a:ext cx="4293054" cy="664810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FA6A43-0AD4-BED3-13C7-0AF5B9BB3FF3}"/>
              </a:ext>
            </a:extLst>
          </p:cNvPr>
          <p:cNvSpPr txBox="1"/>
          <p:nvPr userDrawn="1"/>
        </p:nvSpPr>
        <p:spPr>
          <a:xfrm>
            <a:off x="3048000" y="6423303"/>
            <a:ext cx="6096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0" i="0" spc="50" baseline="0" dirty="0" err="1">
                <a:solidFill>
                  <a:srgbClr val="595959"/>
                </a:solidFill>
                <a:effectLst/>
                <a:latin typeface="Frutiger 45 Light" pitchFamily="2" charset="0"/>
              </a:rPr>
              <a:t>LTIMindtree</a:t>
            </a:r>
            <a:r>
              <a:rPr lang="en-US" sz="1000" b="0" i="0" spc="50" baseline="0" dirty="0">
                <a:solidFill>
                  <a:srgbClr val="595959"/>
                </a:solidFill>
                <a:effectLst/>
                <a:latin typeface="Frutiger 45 Light" pitchFamily="2" charset="0"/>
              </a:rPr>
              <a:t> Limited is a subsidiary of Larsen &amp; Toubro Limited</a:t>
            </a:r>
            <a:endParaRPr lang="en-US" sz="1000" b="0" kern="1200" spc="50" baseline="0" dirty="0">
              <a:solidFill>
                <a:srgbClr val="595959"/>
              </a:solidFill>
              <a:latin typeface="Frutiger 45 Light" pitchFamily="2" charset="0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C452BF-B975-E66F-DD59-26D7F10461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366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3685D-D505-42E6-B2A3-1B26BC793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86" y="365125"/>
            <a:ext cx="1088571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0300D-8B9D-444F-97B8-8F7D7E3A3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86" y="1825625"/>
            <a:ext cx="108857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EDB723-1905-4E83-9D47-D0B5CFAA7945}"/>
              </a:ext>
            </a:extLst>
          </p:cNvPr>
          <p:cNvSpPr txBox="1"/>
          <p:nvPr userDrawn="1"/>
        </p:nvSpPr>
        <p:spPr>
          <a:xfrm>
            <a:off x="3048000" y="6425185"/>
            <a:ext cx="6096000" cy="248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000" dirty="0">
                <a:solidFill>
                  <a:srgbClr val="97A0A4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©</a:t>
            </a:r>
            <a:r>
              <a:rPr lang="en-US" sz="1000" dirty="0" err="1">
                <a:solidFill>
                  <a:srgbClr val="97A0A4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LTIMindtree</a:t>
            </a:r>
            <a:r>
              <a:rPr lang="en-US" sz="1000" dirty="0">
                <a:solidFill>
                  <a:srgbClr val="97A0A4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 | Privileged and Confidential 2022</a:t>
            </a:r>
            <a:endParaRPr lang="en-IN" sz="1000" dirty="0">
              <a:solidFill>
                <a:srgbClr val="595959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4E6E1E-7055-8D1B-4C37-9DCF88F2180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Box 1073742684">
            <a:extLst>
              <a:ext uri="{FF2B5EF4-FFF2-40B4-BE49-F238E27FC236}">
                <a16:creationId xmlns:a16="http://schemas.microsoft.com/office/drawing/2014/main" id="{CB09C83E-2E41-0B4B-7535-36A14EDE4624}"/>
              </a:ext>
            </a:extLst>
          </p:cNvPr>
          <p:cNvSpPr txBox="1"/>
          <p:nvPr userDrawn="1"/>
        </p:nvSpPr>
        <p:spPr>
          <a:xfrm>
            <a:off x="4620260" y="3278188"/>
            <a:ext cx="2951480" cy="301625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000" dirty="0">
              <a:solidFill>
                <a:srgbClr val="595959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0561BA-C7F5-9336-C8B6-9C52C6E480B1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32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1" r:id="rId3"/>
    <p:sldLayoutId id="2147483666" r:id="rId4"/>
    <p:sldLayoutId id="2147483665" r:id="rId5"/>
    <p:sldLayoutId id="2147483651" r:id="rId6"/>
    <p:sldLayoutId id="2147483660" r:id="rId7"/>
    <p:sldLayoutId id="2147483652" r:id="rId8"/>
    <p:sldLayoutId id="2147483653" r:id="rId9"/>
    <p:sldLayoutId id="2147483654" r:id="rId10"/>
    <p:sldLayoutId id="2147483658" r:id="rId11"/>
    <p:sldLayoutId id="2147483656" r:id="rId12"/>
    <p:sldLayoutId id="2147483657" r:id="rId13"/>
    <p:sldLayoutId id="2147483664" r:id="rId14"/>
    <p:sldLayoutId id="2147483663" r:id="rId15"/>
    <p:sldLayoutId id="2147483659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9E82882D-F3C1-4C31-B151-940483136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0" y="2327279"/>
            <a:ext cx="7791743" cy="1311128"/>
          </a:xfrm>
        </p:spPr>
        <p:txBody>
          <a:bodyPr/>
          <a:lstStyle/>
          <a:p>
            <a:r>
              <a:rPr lang="en-IN" sz="4400" dirty="0"/>
              <a:t>Logistics Cost &amp; Delivery Analytics (ADLS + ADF + Databricks + Power BI)</a:t>
            </a:r>
            <a:endParaRPr lang="en-US" sz="4400" dirty="0">
              <a:latin typeface="Frutiger LT Pro 55 Roman" panose="020B060202020402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EF458-C40C-CB57-DDDF-0D1D9C8005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1737"/>
          <a:stretch>
            <a:fillRect/>
          </a:stretch>
        </p:blipFill>
        <p:spPr>
          <a:xfrm>
            <a:off x="1068175" y="4454074"/>
            <a:ext cx="4753638" cy="400106"/>
          </a:xfrm>
          <a:prstGeom prst="rect">
            <a:avLst/>
          </a:prstGeom>
        </p:spPr>
      </p:pic>
      <p:sp>
        <p:nvSpPr>
          <p:cNvPr id="3" name="Title 14">
            <a:extLst>
              <a:ext uri="{FF2B5EF4-FFF2-40B4-BE49-F238E27FC236}">
                <a16:creationId xmlns:a16="http://schemas.microsoft.com/office/drawing/2014/main" id="{08A1E1CE-649E-E406-98E8-A79BD2BCF849}"/>
              </a:ext>
            </a:extLst>
          </p:cNvPr>
          <p:cNvSpPr txBox="1">
            <a:spLocks/>
          </p:cNvSpPr>
          <p:nvPr/>
        </p:nvSpPr>
        <p:spPr>
          <a:xfrm>
            <a:off x="249850" y="4442212"/>
            <a:ext cx="7286855" cy="59093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r>
              <a:rPr lang="en-US" sz="3600" dirty="0"/>
              <a:t>Group 1</a:t>
            </a:r>
            <a:endParaRPr lang="en-US" sz="3600" dirty="0">
              <a:latin typeface="Frutiger LT Pro 55 Roman" panose="020B060202020402020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3A68C3-B9D6-9ED2-EE80-08D6E8B07C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575"/>
          <a:stretch>
            <a:fillRect/>
          </a:stretch>
        </p:blipFill>
        <p:spPr>
          <a:xfrm>
            <a:off x="808174" y="5547359"/>
            <a:ext cx="2066543" cy="233681"/>
          </a:xfrm>
          <a:prstGeom prst="rect">
            <a:avLst/>
          </a:prstGeom>
        </p:spPr>
      </p:pic>
      <p:sp>
        <p:nvSpPr>
          <p:cNvPr id="4" name="Title 14">
            <a:extLst>
              <a:ext uri="{FF2B5EF4-FFF2-40B4-BE49-F238E27FC236}">
                <a16:creationId xmlns:a16="http://schemas.microsoft.com/office/drawing/2014/main" id="{4ABE49F8-9F58-0FB8-36DE-53D7C6F1C545}"/>
              </a:ext>
            </a:extLst>
          </p:cNvPr>
          <p:cNvSpPr txBox="1">
            <a:spLocks/>
          </p:cNvSpPr>
          <p:nvPr/>
        </p:nvSpPr>
        <p:spPr>
          <a:xfrm>
            <a:off x="1085212" y="5519172"/>
            <a:ext cx="1512465" cy="1338828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r>
              <a:rPr lang="en-US" sz="1800" b="0" dirty="0"/>
              <a:t>Sourav Shetty</a:t>
            </a:r>
          </a:p>
          <a:p>
            <a:r>
              <a:rPr lang="en-US" sz="1800" b="0" dirty="0">
                <a:latin typeface="Frutiger LT Pro 55 Roman" panose="020B0602020204020204"/>
              </a:rPr>
              <a:t>Drupad Dev</a:t>
            </a:r>
          </a:p>
          <a:p>
            <a:r>
              <a:rPr lang="en-US" sz="1800" b="0" dirty="0">
                <a:latin typeface="Frutiger LT Pro 55 Roman" panose="020B0602020204020204"/>
              </a:rPr>
              <a:t>Mayur A</a:t>
            </a:r>
          </a:p>
          <a:p>
            <a:r>
              <a:rPr lang="en-US" sz="1800" b="0" dirty="0">
                <a:latin typeface="Frutiger LT Pro 55 Roman" panose="020B0602020204020204"/>
              </a:rPr>
              <a:t>Ekta Patil</a:t>
            </a:r>
          </a:p>
          <a:p>
            <a:r>
              <a:rPr lang="en-US" sz="1800" b="0" dirty="0">
                <a:latin typeface="Frutiger LT Pro 55 Roman" panose="020B0602020204020204"/>
              </a:rPr>
              <a:t>Sayana Dey</a:t>
            </a:r>
          </a:p>
        </p:txBody>
      </p:sp>
    </p:spTree>
    <p:extLst>
      <p:ext uri="{BB962C8B-B14F-4D97-AF65-F5344CB8AC3E}">
        <p14:creationId xmlns:p14="http://schemas.microsoft.com/office/powerpoint/2010/main" val="24583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94015DC-B10C-5599-FE57-D9775BF8D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31296" y="460532"/>
            <a:ext cx="3257369" cy="43497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14F6-F849-7326-29FC-EBAF51831BF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35420" y="1383510"/>
            <a:ext cx="8864415" cy="1968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 automated, end-to-end analytics platform for logistics operations</a:t>
            </a:r>
          </a:p>
          <a:p>
            <a:r>
              <a:rPr lang="en-US" b="0" dirty="0"/>
              <a:t>Daily ingestion of shipment data</a:t>
            </a:r>
          </a:p>
          <a:p>
            <a:r>
              <a:rPr lang="en-US" b="0" dirty="0"/>
              <a:t>Data quality &amp; governance built-in</a:t>
            </a:r>
          </a:p>
          <a:p>
            <a:r>
              <a:rPr lang="en-US" b="0" dirty="0"/>
              <a:t>Analytics-ready outputs for business users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A140471-4F21-FA63-8566-91C6A0445730}"/>
              </a:ext>
            </a:extLst>
          </p:cNvPr>
          <p:cNvSpPr txBox="1">
            <a:spLocks/>
          </p:cNvSpPr>
          <p:nvPr/>
        </p:nvSpPr>
        <p:spPr>
          <a:xfrm>
            <a:off x="1835419" y="3578355"/>
            <a:ext cx="8864415" cy="19685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400" b="1" kern="1200" dirty="0" smtClean="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1pPr>
            <a:lvl2pPr marL="114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2pPr>
            <a:lvl3pPr marL="10858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1800" kern="120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3pPr>
            <a:lvl4pPr marL="160020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1400" kern="120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1400" kern="120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Objectives</a:t>
            </a:r>
          </a:p>
          <a:p>
            <a:r>
              <a:rPr lang="en-US" b="0" dirty="0"/>
              <a:t>A single trusted dataset for cost and delivery metrics.</a:t>
            </a:r>
          </a:p>
          <a:p>
            <a:r>
              <a:rPr lang="en-US" b="0" dirty="0"/>
              <a:t>Industry-standard Medallion-Architecture model</a:t>
            </a:r>
          </a:p>
          <a:p>
            <a:r>
              <a:rPr lang="en-US" b="0" dirty="0"/>
              <a:t>A scalable real-time reporting Dashboard to analyze business </a:t>
            </a:r>
            <a:r>
              <a:rPr lang="en-US" b="0" dirty="0" err="1"/>
              <a:t>criterias</a:t>
            </a:r>
            <a:r>
              <a:rPr lang="en-US" b="0" dirty="0"/>
              <a:t> (SLA compliance, delivery performance, etc.)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559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78F5D48-7A5F-06D1-12C2-C9B05042EB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97815" y="696235"/>
            <a:ext cx="2373924" cy="434975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End-to-End Logistics Analytics Platform on Azure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9CE1C7-7C58-8549-18A0-23188A93B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9678" y="0"/>
            <a:ext cx="4387362" cy="675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297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49195E-012E-171A-F86C-5A2E5B2C19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1396" y="439712"/>
            <a:ext cx="5088044" cy="43497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Data Orchestration with ADF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598326-F48D-D18B-A328-E4D9B92969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435" y="1074121"/>
            <a:ext cx="10011966" cy="27800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6329DB-1561-42D0-5B01-F3685D1CF5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4053587"/>
            <a:ext cx="5734050" cy="1838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409C81C-DA36-C307-1DD0-BB09A74C2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9484" y="4053587"/>
            <a:ext cx="4077679" cy="22759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36512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EDE0FA-D6FE-7C63-45D0-863E45343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41556" y="414074"/>
            <a:ext cx="8911647" cy="43497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Watermark &amp; Control Mechanism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E49B9D-3CEE-69C4-AC89-21B6559B6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4592" y="3739182"/>
            <a:ext cx="464101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Prevents reprocessing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Enables safe reruns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Industry-standard incremental pattern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F53517-A130-74D6-B800-7E5A91FB9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820" y="1023319"/>
            <a:ext cx="8667750" cy="209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420FDD-7736-DA20-1635-550D66A88A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94" y="2977983"/>
            <a:ext cx="5724525" cy="37052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88923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DA35E0-5679-BFE2-18E5-B4B436440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529" y="0"/>
            <a:ext cx="2215678" cy="68418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FD0AA6E-B51C-2943-1B9F-FB12B076B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269166"/>
              </p:ext>
            </p:extLst>
          </p:nvPr>
        </p:nvGraphicFramePr>
        <p:xfrm>
          <a:off x="4826279" y="2773150"/>
          <a:ext cx="6557032" cy="3345600"/>
        </p:xfrm>
        <a:graphic>
          <a:graphicData uri="http://schemas.openxmlformats.org/drawingml/2006/table">
            <a:tbl>
              <a:tblPr/>
              <a:tblGrid>
                <a:gridCol w="1639258">
                  <a:extLst>
                    <a:ext uri="{9D8B030D-6E8A-4147-A177-3AD203B41FA5}">
                      <a16:colId xmlns:a16="http://schemas.microsoft.com/office/drawing/2014/main" val="1914441760"/>
                    </a:ext>
                  </a:extLst>
                </a:gridCol>
                <a:gridCol w="1639258">
                  <a:extLst>
                    <a:ext uri="{9D8B030D-6E8A-4147-A177-3AD203B41FA5}">
                      <a16:colId xmlns:a16="http://schemas.microsoft.com/office/drawing/2014/main" val="3068442209"/>
                    </a:ext>
                  </a:extLst>
                </a:gridCol>
                <a:gridCol w="1639258">
                  <a:extLst>
                    <a:ext uri="{9D8B030D-6E8A-4147-A177-3AD203B41FA5}">
                      <a16:colId xmlns:a16="http://schemas.microsoft.com/office/drawing/2014/main" val="2680667882"/>
                    </a:ext>
                  </a:extLst>
                </a:gridCol>
                <a:gridCol w="1639258">
                  <a:extLst>
                    <a:ext uri="{9D8B030D-6E8A-4147-A177-3AD203B41FA5}">
                      <a16:colId xmlns:a16="http://schemas.microsoft.com/office/drawing/2014/main" val="1016467769"/>
                    </a:ext>
                  </a:extLst>
                </a:gridCol>
              </a:tblGrid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Step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Category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Operation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Purpose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905440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1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Column names → lowercase + underscores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SQL compatibility, consistency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674432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Trim ALL string columns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 leading/trailing whitespace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109481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3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carrierid, deliverystatus → UPPERCASE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Categorical standardization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608450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4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cost → double, dates → date, days → int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Explicit type enforcement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291033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5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Date parsing + logical validation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Reliable time analysis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559366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6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 err="1"/>
                        <a:t>Dedup</a:t>
                      </a:r>
                      <a:r>
                        <a:rPr lang="en-US" sz="1100" dirty="0"/>
                        <a:t>: latest </a:t>
                      </a:r>
                      <a:r>
                        <a:rPr lang="en-US" sz="1100" dirty="0" err="1"/>
                        <a:t>ingest_ts</a:t>
                      </a:r>
                      <a:r>
                        <a:rPr lang="en-US" sz="1100" dirty="0"/>
                        <a:t> per </a:t>
                      </a:r>
                      <a:r>
                        <a:rPr lang="en-US" sz="1100" dirty="0" err="1"/>
                        <a:t>shipmentid</a:t>
                      </a:r>
                      <a:endParaRPr lang="en-US" sz="11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Eliminate duplicates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7025729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7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Status/priority → controlled vocabulary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Consistent filtering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930024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8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Cleaning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Empty strings → NULL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Clear missing vs empty distinction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46947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FCCB2A6-AA28-7D64-BC30-15F5726D5C1C}"/>
              </a:ext>
            </a:extLst>
          </p:cNvPr>
          <p:cNvSpPr txBox="1"/>
          <p:nvPr/>
        </p:nvSpPr>
        <p:spPr>
          <a:xfrm>
            <a:off x="6434983" y="807616"/>
            <a:ext cx="397379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2.5M Shipment Records Analyzed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Missing shipment costs (NULL values)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Negative cost values 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Zero cost shipments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Extreme cost outliers (10x+ median)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Date anomalies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shipment_date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delivery_date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Invalid delivery status values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716DF457-7C3A-EFB6-2CB1-A839C6F03B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67656" y="297815"/>
            <a:ext cx="6434983" cy="434975"/>
          </a:xfrm>
        </p:spPr>
        <p:txBody>
          <a:bodyPr/>
          <a:lstStyle/>
          <a:p>
            <a:pPr marL="0" indent="0">
              <a:buNone/>
            </a:pPr>
            <a:r>
              <a:rPr lang="en-IN" sz="2000" dirty="0"/>
              <a:t>Databricks: Silver Transformations Data Cleaning &amp; Quality</a:t>
            </a:r>
          </a:p>
        </p:txBody>
      </p:sp>
    </p:spTree>
    <p:extLst>
      <p:ext uri="{BB962C8B-B14F-4D97-AF65-F5344CB8AC3E}">
        <p14:creationId xmlns:p14="http://schemas.microsoft.com/office/powerpoint/2010/main" val="3991454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9EC06C8-940F-7BA4-C4B5-12F73DD3F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274839"/>
              </p:ext>
            </p:extLst>
          </p:nvPr>
        </p:nvGraphicFramePr>
        <p:xfrm>
          <a:off x="1468172" y="3241146"/>
          <a:ext cx="9624270" cy="3031466"/>
        </p:xfrm>
        <a:graphic>
          <a:graphicData uri="http://schemas.openxmlformats.org/drawingml/2006/table">
            <a:tbl>
              <a:tblPr/>
              <a:tblGrid>
                <a:gridCol w="3208090">
                  <a:extLst>
                    <a:ext uri="{9D8B030D-6E8A-4147-A177-3AD203B41FA5}">
                      <a16:colId xmlns:a16="http://schemas.microsoft.com/office/drawing/2014/main" val="4111553035"/>
                    </a:ext>
                  </a:extLst>
                </a:gridCol>
                <a:gridCol w="3208090">
                  <a:extLst>
                    <a:ext uri="{9D8B030D-6E8A-4147-A177-3AD203B41FA5}">
                      <a16:colId xmlns:a16="http://schemas.microsoft.com/office/drawing/2014/main" val="1853254924"/>
                    </a:ext>
                  </a:extLst>
                </a:gridCol>
                <a:gridCol w="3208090">
                  <a:extLst>
                    <a:ext uri="{9D8B030D-6E8A-4147-A177-3AD203B41FA5}">
                      <a16:colId xmlns:a16="http://schemas.microsoft.com/office/drawing/2014/main" val="1036574677"/>
                    </a:ext>
                  </a:extLst>
                </a:gridCol>
              </a:tblGrid>
              <a:tr h="327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Flag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Condition (Logic)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39986"/>
                  </a:ext>
                </a:extLst>
              </a:tr>
              <a:tr h="3277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dq_cost_null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shipment_cost</a:t>
                      </a:r>
                      <a:r>
                        <a:rPr lang="en-US" sz="1400" dirty="0"/>
                        <a:t> IS NULL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Missing shipment 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384193"/>
                  </a:ext>
                </a:extLst>
              </a:tr>
              <a:tr h="3277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dq_cost_negative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shipment_cost &lt;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Invalid negative 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2836354"/>
                  </a:ext>
                </a:extLst>
              </a:tr>
              <a:tr h="5735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dq_cost_zero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shipment_cost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Zero-cost shipment (potential anomaly)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5145713"/>
                  </a:ext>
                </a:extLst>
              </a:tr>
              <a:tr h="3277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dq_cost_outlier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shipment_cost &gt; (median_cost × 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Extreme cost outlier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951076"/>
                  </a:ext>
                </a:extLst>
              </a:tr>
              <a:tr h="3277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dq_date_anomaly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shipment_date &gt; delivery_date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Illogical date sequence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2123142"/>
                  </a:ext>
                </a:extLst>
              </a:tr>
              <a:tr h="8193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dq_invalid_status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delivery_status NOT IN ('DELIVERED','IN_TRANSIT','CANCELLED')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Status outside controlled vocabulary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41625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32D753-4BE4-E767-6A59-0D54EA544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0715275"/>
              </p:ext>
            </p:extLst>
          </p:nvPr>
        </p:nvGraphicFramePr>
        <p:xfrm>
          <a:off x="5503491" y="500081"/>
          <a:ext cx="6520440" cy="1687640"/>
        </p:xfrm>
        <a:graphic>
          <a:graphicData uri="http://schemas.openxmlformats.org/drawingml/2006/table">
            <a:tbl>
              <a:tblPr/>
              <a:tblGrid>
                <a:gridCol w="2173480">
                  <a:extLst>
                    <a:ext uri="{9D8B030D-6E8A-4147-A177-3AD203B41FA5}">
                      <a16:colId xmlns:a16="http://schemas.microsoft.com/office/drawing/2014/main" val="43969482"/>
                    </a:ext>
                  </a:extLst>
                </a:gridCol>
                <a:gridCol w="2173480">
                  <a:extLst>
                    <a:ext uri="{9D8B030D-6E8A-4147-A177-3AD203B41FA5}">
                      <a16:colId xmlns:a16="http://schemas.microsoft.com/office/drawing/2014/main" val="2653280067"/>
                    </a:ext>
                  </a:extLst>
                </a:gridCol>
                <a:gridCol w="2173480">
                  <a:extLst>
                    <a:ext uri="{9D8B030D-6E8A-4147-A177-3AD203B41FA5}">
                      <a16:colId xmlns:a16="http://schemas.microsoft.com/office/drawing/2014/main" val="3195865800"/>
                    </a:ext>
                  </a:extLst>
                </a:gridCol>
              </a:tblGrid>
              <a:tr h="3125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Field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704674"/>
                  </a:ext>
                </a:extLst>
              </a:tr>
              <a:tr h="531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dq_score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Sum of all DQ flags (converted to integer 0/1)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/>
                        <a:t>Overall data quality score per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633792"/>
                  </a:ext>
                </a:extLst>
              </a:tr>
              <a:tr h="531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dq_severity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≥2 → CRITICAL, =1 → MAJOR, else MINOR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Severity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467373"/>
                  </a:ext>
                </a:extLst>
              </a:tr>
              <a:tr h="3125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is_quarantine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dq_severity</a:t>
                      </a:r>
                      <a:r>
                        <a:rPr lang="en-US" sz="1400" dirty="0"/>
                        <a:t> = 'CRITICAL'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Flag record for quarantine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144402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215F1FC-2D90-E661-2EF4-E88D53BD2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69" y="236036"/>
            <a:ext cx="5098241" cy="245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099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AF9279-D3B7-B171-F301-F5DD519970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79942" y="422620"/>
            <a:ext cx="4857308" cy="43497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Analytics-Ready Gold Layer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BCEDD3-F2EF-0338-1851-0425FD224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86" y="1239905"/>
            <a:ext cx="6402052" cy="43781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03B047-E602-E8EE-348A-588707EDE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429" y="1107440"/>
            <a:ext cx="3533775" cy="2321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E51CC8-D1BE-7270-9F4C-443CF2467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166" y="3678845"/>
            <a:ext cx="5132848" cy="250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085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DA656C-675F-49AE-095F-1A3F4B8B26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32720" y="379892"/>
            <a:ext cx="3568694" cy="320864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Aggregation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4A91DA-7848-AC4F-61E7-F49AC2296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3" y="1255472"/>
            <a:ext cx="2429658" cy="400866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960E0D-00DD-1021-7741-9DCD5E6F7D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464859"/>
              </p:ext>
            </p:extLst>
          </p:nvPr>
        </p:nvGraphicFramePr>
        <p:xfrm>
          <a:off x="4504373" y="1178100"/>
          <a:ext cx="6278030" cy="450713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71733">
                  <a:extLst>
                    <a:ext uri="{9D8B030D-6E8A-4147-A177-3AD203B41FA5}">
                      <a16:colId xmlns:a16="http://schemas.microsoft.com/office/drawing/2014/main" val="44370293"/>
                    </a:ext>
                  </a:extLst>
                </a:gridCol>
                <a:gridCol w="3342741">
                  <a:extLst>
                    <a:ext uri="{9D8B030D-6E8A-4147-A177-3AD203B41FA5}">
                      <a16:colId xmlns:a16="http://schemas.microsoft.com/office/drawing/2014/main" val="2167780613"/>
                    </a:ext>
                  </a:extLst>
                </a:gridCol>
                <a:gridCol w="1463556">
                  <a:extLst>
                    <a:ext uri="{9D8B030D-6E8A-4147-A177-3AD203B41FA5}">
                      <a16:colId xmlns:a16="http://schemas.microsoft.com/office/drawing/2014/main" val="3119889488"/>
                    </a:ext>
                  </a:extLst>
                </a:gridCol>
              </a:tblGrid>
              <a:tr h="31812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effectLst/>
                        </a:rPr>
                        <a:t>Aggregation Table</a:t>
                      </a:r>
                      <a:endParaRPr lang="en-US" sz="12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effectLst/>
                        </a:rPr>
                        <a:t>What It Shows</a:t>
                      </a:r>
                      <a:endParaRPr lang="en-US" sz="12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effectLst/>
                        </a:rPr>
                        <a:t>KPI</a:t>
                      </a:r>
                      <a:endParaRPr lang="en-US" sz="12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2514985"/>
                  </a:ext>
                </a:extLst>
              </a:tr>
              <a:tr h="4161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agg_daily_cost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Daily shipment cost trend, Detects cost spikes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Cost per Day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73860543"/>
                  </a:ext>
                </a:extLst>
              </a:tr>
              <a:tr h="39443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agg_carrier_perf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Carrier on-time &amp; speed comparison, Select best carrier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OTIF %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0943302"/>
                  </a:ext>
                </a:extLst>
              </a:tr>
              <a:tr h="44631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agg_region_cost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Avg cost by region, Identify regional imbalance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Regional Cost Variance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01002149"/>
                  </a:ext>
                </a:extLst>
              </a:tr>
              <a:tr h="46443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agg_delivery_success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% delivered within SLA, Improves customer satisfaction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On-Time Delivery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1066904"/>
                  </a:ext>
                </a:extLst>
              </a:tr>
              <a:tr h="53088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agg_payment_perf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Performance by payment type, Optimize payment efficiency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Payment Cycle Time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03826465"/>
                  </a:ext>
                </a:extLst>
              </a:tr>
              <a:tr h="39443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agg_priority_status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Priority shipment cost &amp; delay, Ensure premium profitability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Priority Service Margin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08018209"/>
                  </a:ext>
                </a:extLst>
              </a:tr>
              <a:tr h="54900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agg_fragile_cost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Fragile vs normal cost, Identify handling premium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Fragile Handling Premium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48756874"/>
                  </a:ext>
                </a:extLst>
              </a:tr>
              <a:tr h="29530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agg_monthly_kpi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Monthly summary view, Executive monitoring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Executive Scorecard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2589460"/>
                  </a:ext>
                </a:extLst>
              </a:tr>
              <a:tr h="50739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agg_dq_daily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solidFill>
                            <a:schemeClr val="tx2"/>
                          </a:solidFill>
                          <a:effectLst/>
                        </a:rPr>
                        <a:t>Daily data quality status, Ensure trusted reporting</a:t>
                      </a:r>
                      <a:endParaRPr lang="en-US" sz="110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Data Quality Score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31196653"/>
                  </a:ext>
                </a:extLst>
              </a:tr>
              <a:tr h="1906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2"/>
                          </a:solidFill>
                          <a:effectLst/>
                        </a:rPr>
                        <a:t>agg_fragile_damage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Delayed fragile shipment risk, Reduce damage loss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effectLst/>
                        </a:rPr>
                        <a:t>Damage Risk Index</a:t>
                      </a:r>
                      <a:endParaRPr lang="en-US" sz="1100" dirty="0">
                        <a:solidFill>
                          <a:schemeClr val="tx2"/>
                        </a:solidFill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7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08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EA85B5-D231-87AD-A4E4-28DEC0087B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04833" y="166247"/>
            <a:ext cx="3182332" cy="43497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Power BI Insights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C16BA4-9B05-95CD-89C6-4857BF251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380" y="755046"/>
            <a:ext cx="10113237" cy="555579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537650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7BC8CF-809A-F736-4C54-86AFDF08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23" y="463163"/>
            <a:ext cx="9873953" cy="55382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493296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M">
      <a:dk1>
        <a:srgbClr val="595959"/>
      </a:dk1>
      <a:lt1>
        <a:srgbClr val="FFFFFF"/>
      </a:lt1>
      <a:dk2>
        <a:srgbClr val="000000"/>
      </a:dk2>
      <a:lt2>
        <a:srgbClr val="FFFFFF"/>
      </a:lt2>
      <a:accent1>
        <a:srgbClr val="BCD9F3"/>
      </a:accent1>
      <a:accent2>
        <a:srgbClr val="97C4EC"/>
      </a:accent2>
      <a:accent3>
        <a:srgbClr val="60A5E2"/>
      </a:accent3>
      <a:accent4>
        <a:srgbClr val="EF7C00"/>
      </a:accent4>
      <a:accent5>
        <a:srgbClr val="C8CA05"/>
      </a:accent5>
      <a:accent6>
        <a:srgbClr val="33682B"/>
      </a:accent6>
      <a:hlink>
        <a:srgbClr val="64B3E3"/>
      </a:hlink>
      <a:folHlink>
        <a:srgbClr val="004683"/>
      </a:folHlink>
    </a:clrScheme>
    <a:fontScheme name="Frutiger">
      <a:majorFont>
        <a:latin typeface="Frutiger 45 bold"/>
        <a:ea typeface=""/>
        <a:cs typeface=""/>
      </a:majorFont>
      <a:minorFont>
        <a:latin typeface="Frutiger 45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TIMindtree PowerPoint Template  -  Read-Only" id="{D2D078E9-0747-433B-9A53-87E4E1206723}" vid="{02E04BAB-B372-49B2-8DFC-CCA9479795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88563cb8-e9e3-40d4-951f-126d0c29510d">QUMXH5H4ZXKS-875811578-11</_dlc_DocId>
    <_dlc_DocIdUrl xmlns="88563cb8-e9e3-40d4-951f-126d0c29510d">
      <Url>https://mindtreeonline.sharepoint.com/sites/LTIMindtree-Corporate-Templates/_layouts/15/DocIdRedir.aspx?ID=QUMXH5H4ZXKS-875811578-11</Url>
      <Description>QUMXH5H4ZXKS-875811578-11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E668FDB297BA418F5A6539855E71B7" ma:contentTypeVersion="3" ma:contentTypeDescription="Create a new document." ma:contentTypeScope="" ma:versionID="4294c225a3417baf4b70885d580e1778">
  <xsd:schema xmlns:xsd="http://www.w3.org/2001/XMLSchema" xmlns:xs="http://www.w3.org/2001/XMLSchema" xmlns:p="http://schemas.microsoft.com/office/2006/metadata/properties" xmlns:ns2="88563cb8-e9e3-40d4-951f-126d0c29510d" xmlns:ns3="dc0ddbac-d92f-4135-ae82-46af643a22eb" targetNamespace="http://schemas.microsoft.com/office/2006/metadata/properties" ma:root="true" ma:fieldsID="4f00704ce9a2416b2cdaa5d136de8e77" ns2:_="" ns3:_="">
    <xsd:import namespace="88563cb8-e9e3-40d4-951f-126d0c29510d"/>
    <xsd:import namespace="dc0ddbac-d92f-4135-ae82-46af643a22e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563cb8-e9e3-40d4-951f-126d0c29510d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0ddbac-d92f-4135-ae82-46af643a22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3998B09E-68DE-4B62-A34E-BB5B738ECC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55CB52-33A3-4B47-8C1D-0EE24875E3DC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88563cb8-e9e3-40d4-951f-126d0c29510d"/>
    <ds:schemaRef ds:uri="dc0ddbac-d92f-4135-ae82-46af643a22eb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BACBCD0B-8E49-473F-9B37-931C1D238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8563cb8-e9e3-40d4-951f-126d0c29510d"/>
    <ds:schemaRef ds:uri="dc0ddbac-d92f-4135-ae82-46af643a22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C474493-4661-4534-A819-8424B96FDD6F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LTIMindtree PowerPoint Template - Capstone Project</Template>
  <TotalTime>645</TotalTime>
  <Words>594</Words>
  <Application>Microsoft Office PowerPoint</Application>
  <PresentationFormat>Widescreen</PresentationFormat>
  <Paragraphs>136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Arial</vt:lpstr>
      <vt:lpstr>Calibri</vt:lpstr>
      <vt:lpstr>Cambria</vt:lpstr>
      <vt:lpstr>Frutiger 45 bold</vt:lpstr>
      <vt:lpstr>Frutiger 45 Light</vt:lpstr>
      <vt:lpstr>Frutiger LT Pro 45 Light</vt:lpstr>
      <vt:lpstr>Frutiger LT Pro 55 Roman</vt:lpstr>
      <vt:lpstr>Symbol</vt:lpstr>
      <vt:lpstr>Times New Roman</vt:lpstr>
      <vt:lpstr>Wingdings</vt:lpstr>
      <vt:lpstr>Office Theme</vt:lpstr>
      <vt:lpstr>Logistics Cost &amp; Delivery Analytics (ADLS + ADF + Databricks + Power BI)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Drupad Dev P</dc:creator>
  <cp:lastModifiedBy>azml22</cp:lastModifiedBy>
  <cp:revision>3</cp:revision>
  <dcterms:created xsi:type="dcterms:W3CDTF">2026-02-10T14:20:22Z</dcterms:created>
  <dcterms:modified xsi:type="dcterms:W3CDTF">2026-02-11T05:08:02Z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0x0101001EE668FDB297BA418F5A6539855E71B7</vt:lpwstr>
  </property>
  <property fmtid="{D5CDD505-2E9C-101B-9397-08002B2CF9AE}" pid="3" name="_dlc_DocIdItemGuid">
    <vt:lpwstr>36da67c7-b504-4aea-865b-0e87cedc899d</vt:lpwstr>
  </property>
</Properties>
</file>