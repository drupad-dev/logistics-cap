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handoutMasterIdLst>
    <p:handoutMasterId r:id="rId25"/>
  </p:handoutMasterIdLst>
  <p:sldIdLst>
    <p:sldId id="256" r:id="rId6"/>
    <p:sldId id="268" r:id="rId7"/>
    <p:sldId id="261" r:id="rId8"/>
    <p:sldId id="267" r:id="rId9"/>
    <p:sldId id="269" r:id="rId10"/>
    <p:sldId id="266" r:id="rId11"/>
    <p:sldId id="270" r:id="rId12"/>
    <p:sldId id="271" r:id="rId13"/>
    <p:sldId id="272" r:id="rId14"/>
    <p:sldId id="276" r:id="rId15"/>
    <p:sldId id="273" r:id="rId16"/>
    <p:sldId id="274" r:id="rId17"/>
    <p:sldId id="275" r:id="rId18"/>
    <p:sldId id="277" r:id="rId19"/>
    <p:sldId id="278" r:id="rId20"/>
    <p:sldId id="279" r:id="rId21"/>
    <p:sldId id="280" r:id="rId22"/>
    <p:sldId id="281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80"/>
    <a:srgbClr val="FFDF7D"/>
    <a:srgbClr val="66B3E4"/>
    <a:srgbClr val="ECECEC"/>
    <a:srgbClr val="7FA3BF"/>
    <a:srgbClr val="595959"/>
    <a:srgbClr val="F9F0E0"/>
    <a:srgbClr val="F2F7FA"/>
    <a:srgbClr val="E7E2CA"/>
    <a:srgbClr val="E1E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upad Dev P" userId="17a1a080-470d-47d6-a007-64e60d55c19f" providerId="ADAL" clId="{8372D4B3-7A72-4918-8648-B36023F872E1}"/>
    <pc:docChg chg="addSld delSld">
      <pc:chgData name="Drupad Dev P" userId="17a1a080-470d-47d6-a007-64e60d55c19f" providerId="ADAL" clId="{8372D4B3-7A72-4918-8648-B36023F872E1}" dt="2026-02-10T14:24:44.803" v="4" actId="47"/>
      <pc:docMkLst>
        <pc:docMk/>
      </pc:docMkLst>
      <pc:sldChg chg="new">
        <pc:chgData name="Drupad Dev P" userId="17a1a080-470d-47d6-a007-64e60d55c19f" providerId="ADAL" clId="{8372D4B3-7A72-4918-8648-B36023F872E1}" dt="2026-02-10T14:24:20.831" v="0" actId="680"/>
        <pc:sldMkLst>
          <pc:docMk/>
          <pc:sldMk cId="3426565380" sldId="266"/>
        </pc:sldMkLst>
      </pc:sldChg>
      <pc:sldChg chg="new del">
        <pc:chgData name="Drupad Dev P" userId="17a1a080-470d-47d6-a007-64e60d55c19f" providerId="ADAL" clId="{8372D4B3-7A72-4918-8648-B36023F872E1}" dt="2026-02-10T14:24:44.803" v="4" actId="47"/>
        <pc:sldMkLst>
          <pc:docMk/>
          <pc:sldMk cId="2718744676" sldId="267"/>
        </pc:sldMkLst>
      </pc:sldChg>
      <pc:sldChg chg="add del">
        <pc:chgData name="Drupad Dev P" userId="17a1a080-470d-47d6-a007-64e60d55c19f" providerId="ADAL" clId="{8372D4B3-7A72-4918-8648-B36023F872E1}" dt="2026-02-10T14:24:44.784" v="3" actId="47"/>
        <pc:sldMkLst>
          <pc:docMk/>
          <pc:sldMk cId="2884340737" sldId="2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EA10B1E-4FA2-D72F-F444-DB648FFEB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t="1147" b="4270"/>
          <a:stretch/>
        </p:blipFill>
        <p:spPr>
          <a:xfrm>
            <a:off x="-28124" y="0"/>
            <a:ext cx="12220123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006522"/>
            <a:ext cx="8937171" cy="1421928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1413D66-879B-990C-642E-1E1E0D8F30F0}"/>
              </a:ext>
            </a:extLst>
          </p:cNvPr>
          <p:cNvSpPr txBox="1">
            <a:spLocks/>
          </p:cNvSpPr>
          <p:nvPr userDrawn="1"/>
        </p:nvSpPr>
        <p:spPr>
          <a:xfrm>
            <a:off x="1089891" y="4473456"/>
            <a:ext cx="8937171" cy="4385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500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EFC81-BEEE-352B-0244-DD36B67B80C9}"/>
              </a:ext>
            </a:extLst>
          </p:cNvPr>
          <p:cNvSpPr txBox="1">
            <a:spLocks/>
          </p:cNvSpPr>
          <p:nvPr userDrawn="1"/>
        </p:nvSpPr>
        <p:spPr>
          <a:xfrm>
            <a:off x="1089890" y="5263013"/>
            <a:ext cx="8937171" cy="58753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b="1" dirty="0"/>
              <a:t>Presenter Name</a:t>
            </a:r>
          </a:p>
          <a:p>
            <a:pPr>
              <a:lnSpc>
                <a:spcPts val="2000"/>
              </a:lnSpc>
            </a:pPr>
            <a:r>
              <a:rPr lang="en-US" sz="1400" b="0" dirty="0"/>
              <a:t>Month, 20XX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27D409DF-402A-DD18-BFCE-888857314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12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2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2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2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35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pos="73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438F9EE4-1525-DA32-B6BF-F9D4E4DA0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6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AEB0E49-39B0-037C-0357-6C4472DC1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57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7F8B13B-8E7C-F321-BF83-177D747B1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5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7B593DD1-E696-84F5-997E-395CB4B340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88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6A7051-5A82-D471-602E-39E158F6B1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242" y="1508588"/>
            <a:ext cx="5864980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3242" y="4388313"/>
            <a:ext cx="58649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21F3B-DFDD-3880-4A59-92315D909E94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chemeClr val="bg2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7DD45-CE2E-85E8-642D-93DED37DD3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2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D37EA21-4965-A1A5-EFE5-F1DB9D9A9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7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F8A07F5-F0F3-56A0-B462-8A048CE69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DD8A8A8-2642-F3FA-DCC7-296A6B23D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2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CF0EE8-1D27-DB0B-D74F-2627C320CB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0E2AFA92-4A8A-D692-CB16-A5351C9E5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62"/>
            <a:ext cx="5760164" cy="4106844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3A9ED4-9BDF-42B0-B98D-5F105B1AC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6042" y="961005"/>
            <a:ext cx="8911647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dirty="0">
                <a:solidFill>
                  <a:srgbClr val="595959"/>
                </a:solidFill>
                <a:latin typeface="+mj-lt"/>
              </a:defRPr>
            </a:lvl1pPr>
          </a:lstStyle>
          <a:p>
            <a:pPr marL="0" lvl="0" indent="0"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Headline goes here</a:t>
            </a:r>
            <a:br>
              <a:rPr lang="en-US" dirty="0"/>
            </a:br>
            <a:r>
              <a:rPr lang="en-US" dirty="0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763F4705-5885-9139-7C1E-5E2F720F7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7916254B-43C5-9C82-7FF6-BC881992F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9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B70154DA-9096-81F4-B455-E3499A1BD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8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1379A390-F031-B6A4-9699-D7473C203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26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bold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B00E7C7-88E6-A7F9-7356-C605C6E38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6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lur&#10;&#10;Description automatically generated">
            <a:extLst>
              <a:ext uri="{FF2B5EF4-FFF2-40B4-BE49-F238E27FC236}">
                <a16:creationId xmlns:a16="http://schemas.microsoft.com/office/drawing/2014/main" id="{EF438032-1F77-BBEA-C7C7-8ED95C652F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FA6A43-0AD4-BED3-13C7-0AF5B9BB3FF3}"/>
              </a:ext>
            </a:extLst>
          </p:cNvPr>
          <p:cNvSpPr txBox="1"/>
          <p:nvPr userDrawn="1"/>
        </p:nvSpPr>
        <p:spPr>
          <a:xfrm>
            <a:off x="3048000" y="642330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spc="50" baseline="0" dirty="0" err="1">
                <a:solidFill>
                  <a:srgbClr val="595959"/>
                </a:solidFill>
                <a:effectLst/>
                <a:latin typeface="Frutiger 45 Light" pitchFamily="2" charset="0"/>
              </a:rPr>
              <a:t>LTIMindtree</a:t>
            </a:r>
            <a:r>
              <a:rPr lang="en-US" sz="1000" b="0" i="0" spc="50" baseline="0" dirty="0">
                <a:solidFill>
                  <a:srgbClr val="595959"/>
                </a:solidFill>
                <a:effectLst/>
                <a:latin typeface="Frutiger 45 Light" pitchFamily="2" charset="0"/>
              </a:rPr>
              <a:t> Limited is a subsidiary of Larsen &amp; Toubro Limited</a:t>
            </a:r>
            <a:endParaRPr lang="en-US" sz="1000" b="0" kern="1200" spc="50" baseline="0" dirty="0">
              <a:solidFill>
                <a:srgbClr val="595959"/>
              </a:solidFill>
              <a:latin typeface="Frutiger 45 Light" pitchFamily="2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452BF-B975-E66F-DD59-26D7F10461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6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3685D-D505-42E6-B2A3-1B26BC79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651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300D-8B9D-444F-97B8-8F7D7E3A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825625"/>
            <a:ext cx="108857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DB723-1905-4E83-9D47-D0B5CFAA7945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4E6E1E-7055-8D1B-4C37-9DCF88F218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Box 1073742684">
            <a:extLst>
              <a:ext uri="{FF2B5EF4-FFF2-40B4-BE49-F238E27FC236}">
                <a16:creationId xmlns:a16="http://schemas.microsoft.com/office/drawing/2014/main" id="{CB09C83E-2E41-0B4B-7535-36A14EDE4624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561BA-C7F5-9336-C8B6-9C52C6E480B1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3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66" r:id="rId4"/>
    <p:sldLayoutId id="2147483665" r:id="rId5"/>
    <p:sldLayoutId id="2147483651" r:id="rId6"/>
    <p:sldLayoutId id="2147483660" r:id="rId7"/>
    <p:sldLayoutId id="2147483652" r:id="rId8"/>
    <p:sldLayoutId id="2147483653" r:id="rId9"/>
    <p:sldLayoutId id="2147483654" r:id="rId10"/>
    <p:sldLayoutId id="2147483658" r:id="rId11"/>
    <p:sldLayoutId id="2147483656" r:id="rId12"/>
    <p:sldLayoutId id="2147483657" r:id="rId13"/>
    <p:sldLayoutId id="2147483664" r:id="rId14"/>
    <p:sldLayoutId id="2147483663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E82882D-F3C1-4C31-B151-940483136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787" y="2652019"/>
            <a:ext cx="7286855" cy="1311128"/>
          </a:xfrm>
        </p:spPr>
        <p:txBody>
          <a:bodyPr/>
          <a:lstStyle/>
          <a:p>
            <a:r>
              <a:rPr lang="en-IN" sz="4400" dirty="0"/>
              <a:t>Logistics Cost &amp; Delivery Analytics (ADLS + ADF + Databricks + Power BI)</a:t>
            </a:r>
            <a:endParaRPr lang="en-US" sz="4400" dirty="0">
              <a:latin typeface="Frutiger LT Pro 55 Roman" panose="020B060202020402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DEF458-C40C-CB57-DDDF-0D1D9C800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1737"/>
          <a:stretch>
            <a:fillRect/>
          </a:stretch>
        </p:blipFill>
        <p:spPr>
          <a:xfrm>
            <a:off x="1068175" y="4454074"/>
            <a:ext cx="4753638" cy="400106"/>
          </a:xfrm>
          <a:prstGeom prst="rect">
            <a:avLst/>
          </a:prstGeom>
        </p:spPr>
      </p:pic>
      <p:sp>
        <p:nvSpPr>
          <p:cNvPr id="3" name="Title 14">
            <a:extLst>
              <a:ext uri="{FF2B5EF4-FFF2-40B4-BE49-F238E27FC236}">
                <a16:creationId xmlns:a16="http://schemas.microsoft.com/office/drawing/2014/main" id="{08A1E1CE-649E-E406-98E8-A79BD2BCF849}"/>
              </a:ext>
            </a:extLst>
          </p:cNvPr>
          <p:cNvSpPr txBox="1">
            <a:spLocks/>
          </p:cNvSpPr>
          <p:nvPr/>
        </p:nvSpPr>
        <p:spPr>
          <a:xfrm>
            <a:off x="984787" y="4380422"/>
            <a:ext cx="7286855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3600" dirty="0"/>
              <a:t>Group 1</a:t>
            </a:r>
            <a:endParaRPr lang="en-US" sz="3600" dirty="0">
              <a:latin typeface="Frutiger LT Pro 55 Roman" panose="020B060202020402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3A68C3-B9D6-9ED2-EE80-08D6E8B07C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75"/>
          <a:stretch>
            <a:fillRect/>
          </a:stretch>
        </p:blipFill>
        <p:spPr>
          <a:xfrm>
            <a:off x="808174" y="5547359"/>
            <a:ext cx="2066543" cy="233681"/>
          </a:xfrm>
          <a:prstGeom prst="rect">
            <a:avLst/>
          </a:prstGeom>
        </p:spPr>
      </p:pic>
      <p:sp>
        <p:nvSpPr>
          <p:cNvPr id="4" name="Title 14">
            <a:extLst>
              <a:ext uri="{FF2B5EF4-FFF2-40B4-BE49-F238E27FC236}">
                <a16:creationId xmlns:a16="http://schemas.microsoft.com/office/drawing/2014/main" id="{4ABE49F8-9F58-0FB8-36DE-53D7C6F1C545}"/>
              </a:ext>
            </a:extLst>
          </p:cNvPr>
          <p:cNvSpPr txBox="1">
            <a:spLocks/>
          </p:cNvSpPr>
          <p:nvPr/>
        </p:nvSpPr>
        <p:spPr>
          <a:xfrm>
            <a:off x="1068175" y="5519172"/>
            <a:ext cx="1512465" cy="13388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1800" b="0" dirty="0"/>
              <a:t>Drupad Dev P</a:t>
            </a:r>
          </a:p>
          <a:p>
            <a:r>
              <a:rPr lang="en-US" sz="1800" b="0" dirty="0">
                <a:latin typeface="Frutiger LT Pro 55 Roman" panose="020B0602020204020204"/>
              </a:rPr>
              <a:t>Mayur A</a:t>
            </a:r>
          </a:p>
          <a:p>
            <a:r>
              <a:rPr lang="en-US" sz="1800" b="0" dirty="0">
                <a:latin typeface="Frutiger LT Pro 55 Roman" panose="020B0602020204020204"/>
              </a:rPr>
              <a:t>Sourav Shetty</a:t>
            </a:r>
          </a:p>
          <a:p>
            <a:r>
              <a:rPr lang="en-US" sz="1800" b="0" dirty="0">
                <a:latin typeface="Frutiger LT Pro 55 Roman" panose="020B0602020204020204"/>
              </a:rPr>
              <a:t>Ekta Patil</a:t>
            </a:r>
          </a:p>
          <a:p>
            <a:r>
              <a:rPr lang="en-US" sz="1800" b="0" dirty="0">
                <a:latin typeface="Frutiger LT Pro 55 Roman" panose="020B0602020204020204"/>
              </a:rPr>
              <a:t>Sayana Dey</a:t>
            </a:r>
          </a:p>
        </p:txBody>
      </p:sp>
    </p:spTree>
    <p:extLst>
      <p:ext uri="{BB962C8B-B14F-4D97-AF65-F5344CB8AC3E}">
        <p14:creationId xmlns:p14="http://schemas.microsoft.com/office/powerpoint/2010/main" val="24583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4015DC-B10C-5599-FE57-D9775BF8DE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6560" y="422525"/>
            <a:ext cx="8911647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E14F6-F849-7326-29FC-EBAF51831B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16560" y="1316609"/>
            <a:ext cx="8864415" cy="34323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automated, end-to-end analytics platform for logistics operations</a:t>
            </a:r>
          </a:p>
          <a:p>
            <a:r>
              <a:rPr lang="en-US" b="0" dirty="0"/>
              <a:t>Daily ingestion of shipment data</a:t>
            </a:r>
          </a:p>
          <a:p>
            <a:r>
              <a:rPr lang="en-US" b="0" dirty="0"/>
              <a:t>Data quality &amp; governance built-in</a:t>
            </a:r>
          </a:p>
          <a:p>
            <a:r>
              <a:rPr lang="en-US" b="0" dirty="0"/>
              <a:t>Analytics-ready outputs for business users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629A9-7C65-C7B1-3A99-280F868DBF48}"/>
              </a:ext>
            </a:extLst>
          </p:cNvPr>
          <p:cNvSpPr txBox="1"/>
          <p:nvPr/>
        </p:nvSpPr>
        <p:spPr>
          <a:xfrm>
            <a:off x="581660" y="3623995"/>
            <a:ext cx="1109218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595959"/>
                </a:solidFill>
                <a:latin typeface="Frutiger 45 Light" pitchFamily="2" charset="0"/>
                <a:cs typeface="Calibri" panose="020F0502020204030204" pitchFamily="34" charset="0"/>
              </a:rPr>
              <a:t>End Goal: </a:t>
            </a:r>
            <a:r>
              <a:rPr lang="en-US" sz="2400" dirty="0"/>
              <a:t>The goal was not just to move data, but to build a governed platform that supports operational and executive decision-making.</a:t>
            </a:r>
            <a:endParaRPr lang="en-US" sz="2400" b="1" dirty="0">
              <a:solidFill>
                <a:srgbClr val="595959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7" name="Graphic 6" descr="Bar chart with solid fill">
            <a:extLst>
              <a:ext uri="{FF2B5EF4-FFF2-40B4-BE49-F238E27FC236}">
                <a16:creationId xmlns:a16="http://schemas.microsoft.com/office/drawing/2014/main" id="{2E772DC8-5B44-4C7D-0B02-B3883CA48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9047" y="4693996"/>
            <a:ext cx="914400" cy="914400"/>
          </a:xfrm>
          <a:prstGeom prst="rect">
            <a:avLst/>
          </a:prstGeom>
        </p:spPr>
      </p:pic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2896DEF9-5D48-FBB0-0A19-6D00DA2EB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209" y="4721454"/>
            <a:ext cx="914400" cy="914400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5FA5E8DB-CDBE-D902-5DA0-A936105178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1353" y="4693996"/>
            <a:ext cx="914400" cy="914400"/>
          </a:xfrm>
          <a:prstGeom prst="rect">
            <a:avLst/>
          </a:prstGeom>
        </p:spPr>
      </p:pic>
      <p:pic>
        <p:nvPicPr>
          <p:cNvPr id="13" name="Graphic 12" descr="Gears with solid fill">
            <a:extLst>
              <a:ext uri="{FF2B5EF4-FFF2-40B4-BE49-F238E27FC236}">
                <a16:creationId xmlns:a16="http://schemas.microsoft.com/office/drawing/2014/main" id="{78A35DAA-6BD1-58DB-F38E-7A7083CB7B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0781" y="4693996"/>
            <a:ext cx="914400" cy="914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4BA5E9-AFF0-538D-1066-A68195E6E9CC}"/>
              </a:ext>
            </a:extLst>
          </p:cNvPr>
          <p:cNvCxnSpPr/>
          <p:nvPr/>
        </p:nvCxnSpPr>
        <p:spPr>
          <a:xfrm>
            <a:off x="3285753" y="5151196"/>
            <a:ext cx="1093207" cy="0"/>
          </a:xfrm>
          <a:prstGeom prst="straightConnector1">
            <a:avLst/>
          </a:prstGeom>
          <a:ln w="57150">
            <a:solidFill>
              <a:schemeClr val="tx2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4DE1DC-C45A-F58D-C5C5-34F8A61E871D}"/>
              </a:ext>
            </a:extLst>
          </p:cNvPr>
          <p:cNvCxnSpPr/>
          <p:nvPr/>
        </p:nvCxnSpPr>
        <p:spPr>
          <a:xfrm>
            <a:off x="5195181" y="5178730"/>
            <a:ext cx="1093207" cy="0"/>
          </a:xfrm>
          <a:prstGeom prst="straightConnector1">
            <a:avLst/>
          </a:prstGeom>
          <a:ln w="57150">
            <a:solidFill>
              <a:schemeClr val="tx2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9BD8F7-5DB9-A197-CE76-0B8D76EB6D2A}"/>
              </a:ext>
            </a:extLst>
          </p:cNvPr>
          <p:cNvCxnSpPr/>
          <p:nvPr/>
        </p:nvCxnSpPr>
        <p:spPr>
          <a:xfrm>
            <a:off x="7248153" y="5188890"/>
            <a:ext cx="1093207" cy="0"/>
          </a:xfrm>
          <a:prstGeom prst="straightConnector1">
            <a:avLst/>
          </a:prstGeom>
          <a:ln w="57150">
            <a:solidFill>
              <a:schemeClr val="tx2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55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585B8E-356B-ECE8-5509-109D12D4306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788875" y="1595521"/>
            <a:ext cx="9232331" cy="3432302"/>
          </a:xfrm>
        </p:spPr>
        <p:txBody>
          <a:bodyPr>
            <a:normAutofit/>
          </a:bodyPr>
          <a:lstStyle/>
          <a:p>
            <a:r>
              <a:rPr lang="en-US" dirty="0"/>
              <a:t>Linked Services </a:t>
            </a:r>
          </a:p>
          <a:p>
            <a:pPr marL="800100" lvl="2" indent="0">
              <a:buNone/>
            </a:pPr>
            <a:r>
              <a:rPr lang="en-US" dirty="0"/>
              <a:t>• ADLS </a:t>
            </a:r>
          </a:p>
          <a:p>
            <a:pPr marL="800100" lvl="2" indent="0">
              <a:buNone/>
            </a:pPr>
            <a:r>
              <a:rPr lang="en-US" dirty="0"/>
              <a:t>• ADF </a:t>
            </a:r>
          </a:p>
          <a:p>
            <a:pPr marL="800100" lvl="2" indent="0">
              <a:buNone/>
            </a:pPr>
            <a:r>
              <a:rPr lang="en-US" dirty="0"/>
              <a:t>• Databricks </a:t>
            </a:r>
          </a:p>
          <a:p>
            <a:pPr marL="800100" lvl="2" indent="0">
              <a:buNone/>
            </a:pPr>
            <a:r>
              <a:rPr lang="en-US" dirty="0"/>
              <a:t>• Power BI</a:t>
            </a:r>
          </a:p>
          <a:p>
            <a:r>
              <a:rPr lang="en-US" dirty="0"/>
              <a:t>Medalion Architecture</a:t>
            </a:r>
          </a:p>
          <a:p>
            <a:pPr marL="1314450" lvl="3" indent="0">
              <a:buNone/>
            </a:pP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78F5D48-7A5F-06D1-12C2-C9B05042E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605" y="721757"/>
            <a:ext cx="9281523" cy="4349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End-to-End Logistics Analytics Platform on Azure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1E8F5-283D-47EE-8A2C-B173928A2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508" y="3821400"/>
            <a:ext cx="4172532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9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924266-4F80-B6F6-D69C-21F361DCDC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6042" y="719721"/>
            <a:ext cx="8911647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Project Challenge and Business Problem Abstraction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3CFFE3-9AC7-B5A5-5C73-7183A509A99C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1646042" y="2682855"/>
            <a:ext cx="40094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Disparate daily shipment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trust in cost &amp; delivery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single analytics-ready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76AA3-1D34-52C2-5475-72A71780793C}"/>
              </a:ext>
            </a:extLst>
          </p:cNvPr>
          <p:cNvSpPr txBox="1"/>
          <p:nvPr/>
        </p:nvSpPr>
        <p:spPr>
          <a:xfrm>
            <a:off x="1646042" y="1549443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Logistics data existed, but insights did not.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24B9E-126D-5487-DE9D-C023A0DDF4C3}"/>
              </a:ext>
            </a:extLst>
          </p:cNvPr>
          <p:cNvSpPr txBox="1"/>
          <p:nvPr/>
        </p:nvSpPr>
        <p:spPr>
          <a:xfrm>
            <a:off x="2268949" y="2069982"/>
            <a:ext cx="10956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“</a:t>
            </a:r>
            <a:r>
              <a:rPr lang="en-US" sz="2400" b="1" dirty="0">
                <a:solidFill>
                  <a:srgbClr val="595959"/>
                </a:solidFill>
                <a:latin typeface="+mj-lt"/>
                <a:cs typeface="Calibri" panose="020F0502020204030204" pitchFamily="34" charset="0"/>
              </a:rPr>
              <a:t>From raw logistics files → governed analytics → business decisions”</a:t>
            </a:r>
            <a:endParaRPr lang="en-IN" sz="2400" b="1" dirty="0">
              <a:solidFill>
                <a:srgbClr val="595959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4716BF4A-4D3E-151D-57B4-D776FD8CC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599" y="4095389"/>
            <a:ext cx="20384612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Abstracted the problem into 3 layers: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arrival is unreliable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 issues are common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users need clean KPIs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required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automation, validation, and modeling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49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59AD37-0170-60E5-D30D-1436BBBC8F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Inputs &amp;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FCFA3-10BE-96A3-5EF4-EB061EC3B2A9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CSV shipment &amp; reference files</a:t>
            </a:r>
          </a:p>
          <a:p>
            <a:pPr marL="0" indent="0">
              <a:buNone/>
            </a:pPr>
            <a:r>
              <a:rPr lang="en-IN" b="0" dirty="0"/>
              <a:t>Add photo of Given File and its analytics </a:t>
            </a:r>
          </a:p>
          <a:p>
            <a:pPr marL="0" indent="0">
              <a:buNone/>
            </a:pPr>
            <a:endParaRPr lang="en-IN" b="0" dirty="0"/>
          </a:p>
          <a:p>
            <a:pPr marL="0" indent="0">
              <a:buNone/>
            </a:pPr>
            <a:endParaRPr lang="en-IN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5FF0A-5687-DF9F-9AEC-8F45321D8DC6}"/>
              </a:ext>
            </a:extLst>
          </p:cNvPr>
          <p:cNvSpPr txBox="1"/>
          <p:nvPr/>
        </p:nvSpPr>
        <p:spPr>
          <a:xfrm>
            <a:off x="1646042" y="282559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Raw CSV shipment extracts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Reference data (warehouses, carriers, regions)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Business KPI expectations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2192035-E135-C8FD-DE56-82EBAB5A6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480" y="4683486"/>
            <a:ext cx="861325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The data was </a:t>
            </a:r>
            <a:r>
              <a:rPr lang="en-US" altLang="en-US" b="1" dirty="0">
                <a:latin typeface="Arial" panose="020B0604020202020204" pitchFamily="34" charset="0"/>
              </a:rPr>
              <a:t>intentionally imperfect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It contained nulls, duplicates, and anomalies to simulate real enterprise conditions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This allowed us to test </a:t>
            </a:r>
            <a:r>
              <a:rPr lang="en-US" altLang="en-US" b="1" dirty="0">
                <a:latin typeface="Arial" panose="020B0604020202020204" pitchFamily="34" charset="0"/>
              </a:rPr>
              <a:t>data quality and governance</a:t>
            </a:r>
            <a:r>
              <a:rPr lang="en-US" altLang="en-US" dirty="0">
                <a:latin typeface="Arial" panose="020B0604020202020204" pitchFamily="34" charset="0"/>
              </a:rPr>
              <a:t>, not just ingestion</a:t>
            </a:r>
          </a:p>
        </p:txBody>
      </p:sp>
    </p:spTree>
    <p:extLst>
      <p:ext uri="{BB962C8B-B14F-4D97-AF65-F5344CB8AC3E}">
        <p14:creationId xmlns:p14="http://schemas.microsoft.com/office/powerpoint/2010/main" val="431583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08FB50-79BF-87BB-595F-A7B60F4510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Data Simulation Design (Data Generation)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1C690C-1C8C-7449-A68D-0316CA0127F2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1727656" y="1976840"/>
            <a:ext cx="873668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3,000 </a:t>
            </a:r>
            <a:r>
              <a:rPr lang="en-US" dirty="0"/>
              <a:t>→ 2.5M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shipment records</a:t>
            </a:r>
            <a:endParaRPr lang="en-US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Data was synthetically generated but, Preserved real-world distributions 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   Introduced controlled data quality issues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 days of data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 dirty="0">
                <a:latin typeface="Arial" panose="020B0604020202020204" pitchFamily="34" charset="0"/>
              </a:rPr>
              <a:t>Introduced controlled data quality issues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565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7AB024-20A2-81BA-4CAC-C88E453B9C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4000" dirty="0"/>
              <a:t>Azure Services Stack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F138AE-689F-2731-CD7C-E7D1FC5E50EF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739232" y="2612073"/>
            <a:ext cx="301921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Data Lake Storage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Data Factory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Databricks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</a:t>
            </a:r>
          </a:p>
        </p:txBody>
      </p:sp>
      <p:pic>
        <p:nvPicPr>
          <p:cNvPr id="4099" name="Picture 3" descr="Building an End-to-End Logistics Analytics Platform with Azure Data  Engineering &amp; Power BI | by Mohsin Mukhtiar | Power BI Masterclass | Medium">
            <a:extLst>
              <a:ext uri="{FF2B5EF4-FFF2-40B4-BE49-F238E27FC236}">
                <a16:creationId xmlns:a16="http://schemas.microsoft.com/office/drawing/2014/main" id="{35F1897C-6A19-46AF-B911-3D04F486B6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7"/>
          <a:stretch>
            <a:fillRect/>
          </a:stretch>
        </p:blipFill>
        <p:spPr bwMode="auto">
          <a:xfrm>
            <a:off x="3890523" y="1913992"/>
            <a:ext cx="7105967" cy="370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25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544452-2DAB-2E67-8AE7-1B7F7BCCEB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B6F07-7FB2-ADEC-6A8A-E5AFC2F31B78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IN" dirty="0"/>
              <a:t>Medalion Architecture </a:t>
            </a:r>
          </a:p>
          <a:p>
            <a:pPr marL="0" lvl="1" indent="0">
              <a:buNone/>
            </a:pPr>
            <a:r>
              <a:rPr lang="en-IN" dirty="0"/>
              <a:t>		</a:t>
            </a:r>
          </a:p>
          <a:p>
            <a:pPr marL="0" lvl="1" indent="0">
              <a:buNone/>
            </a:pPr>
            <a:r>
              <a:rPr lang="en-IN" dirty="0"/>
              <a:t>		Bronze → Silver → Gold</a:t>
            </a:r>
          </a:p>
          <a:p>
            <a:pPr marL="0" lvl="1" indent="0">
              <a:buNone/>
            </a:pPr>
            <a:endParaRPr lang="en-IN" dirty="0"/>
          </a:p>
        </p:txBody>
      </p:sp>
      <p:pic>
        <p:nvPicPr>
          <p:cNvPr id="5123" name="Picture 3" descr="What is a Medallion Architecture?">
            <a:extLst>
              <a:ext uri="{FF2B5EF4-FFF2-40B4-BE49-F238E27FC236}">
                <a16:creationId xmlns:a16="http://schemas.microsoft.com/office/drawing/2014/main" id="{CCC8D9F1-7FF4-0DA8-FC91-7198D66C4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06" y="2843441"/>
            <a:ext cx="7556593" cy="363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DAD46F-E439-B9FD-C072-BBC336DC7310}"/>
              </a:ext>
            </a:extLst>
          </p:cNvPr>
          <p:cNvSpPr txBox="1"/>
          <p:nvPr/>
        </p:nvSpPr>
        <p:spPr>
          <a:xfrm>
            <a:off x="8117838" y="3517700"/>
            <a:ext cx="40741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We followed the Medallion Architecture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Each layer improves data quality and usability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This makes the platform auditable, testable, and BI-optimized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74800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F911E7-A11C-9611-34F0-E3860C6518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Data Lake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3D0FF-1F01-0D32-D27E-971A0170E9F0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IN" dirty="0"/>
              <a:t>Add images</a:t>
            </a:r>
          </a:p>
        </p:txBody>
      </p:sp>
    </p:spTree>
    <p:extLst>
      <p:ext uri="{BB962C8B-B14F-4D97-AF65-F5344CB8AC3E}">
        <p14:creationId xmlns:p14="http://schemas.microsoft.com/office/powerpoint/2010/main" val="615802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753C7E-4D14-C75A-3182-0EE9FC1880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Raw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ECED7-233F-44D7-A7B5-2338169B93A5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IN" b="0" dirty="0"/>
              <a:t>Date partitioned raw data </a:t>
            </a:r>
          </a:p>
          <a:p>
            <a:r>
              <a:rPr lang="en-IN" b="0" dirty="0"/>
              <a:t>No Transformations</a:t>
            </a:r>
          </a:p>
          <a:p>
            <a:r>
              <a:rPr lang="en-IN" b="0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1918612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49195E-012E-171A-F86C-5A2E5B2C19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Data Orchestration with ADF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7BCDB-DA22-54A6-8169-6D45E246C46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IN" dirty="0"/>
              <a:t>Pipeline </a:t>
            </a:r>
          </a:p>
          <a:p>
            <a:r>
              <a:rPr lang="en-IN" dirty="0"/>
              <a:t>Trigger</a:t>
            </a:r>
          </a:p>
          <a:p>
            <a:r>
              <a:rPr lang="en-IN" dirty="0"/>
              <a:t>Validation Steps</a:t>
            </a:r>
          </a:p>
        </p:txBody>
      </p:sp>
    </p:spTree>
    <p:extLst>
      <p:ext uri="{BB962C8B-B14F-4D97-AF65-F5344CB8AC3E}">
        <p14:creationId xmlns:p14="http://schemas.microsoft.com/office/powerpoint/2010/main" val="3436512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EDE0FA-D6FE-7C63-45D0-863E453430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Watermark &amp; Control Mechanism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3982B7-7075-19AE-BF03-3846A46548B2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1826352" y="1724074"/>
            <a:ext cx="31854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Last successful ingest date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in control container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FE49B9D-3CEE-69C4-AC89-21B6559B6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352" y="4973665"/>
            <a:ext cx="464101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Prevents reprocessing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Enables safe reruns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Industry-standard incremental pattern</a:t>
            </a:r>
          </a:p>
        </p:txBody>
      </p:sp>
    </p:spTree>
    <p:extLst>
      <p:ext uri="{BB962C8B-B14F-4D97-AF65-F5344CB8AC3E}">
        <p14:creationId xmlns:p14="http://schemas.microsoft.com/office/powerpoint/2010/main" val="3788923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6DF457-7C3A-EFB6-2CB1-A839C6F03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Databricks: Silver Transformations Data Cleaning &amp; Quality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C303CA-C06B-46D1-3BDA-F38B81C841A7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1646042" y="2063401"/>
            <a:ext cx="388356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Typed schema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Deduplication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DQ flags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579883-81B3-CC8C-9639-01949E281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1360" y="4757896"/>
            <a:ext cx="54874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Applied </a:t>
            </a:r>
            <a:r>
              <a:rPr lang="en-US" altLang="en-US" b="1" dirty="0" err="1">
                <a:latin typeface="Arial" panose="020B0604020202020204" pitchFamily="34" charset="0"/>
              </a:rPr>
              <a:t>PySpark</a:t>
            </a:r>
            <a:r>
              <a:rPr lang="en-US" altLang="en-US" b="1" dirty="0">
                <a:latin typeface="Arial" panose="020B0604020202020204" pitchFamily="34" charset="0"/>
              </a:rPr>
              <a:t> transformations: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Null handling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Duplicate resolution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Outlier detection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Bad records routed to quarantine, not deleted</a:t>
            </a:r>
          </a:p>
        </p:txBody>
      </p:sp>
    </p:spTree>
    <p:extLst>
      <p:ext uri="{BB962C8B-B14F-4D97-AF65-F5344CB8AC3E}">
        <p14:creationId xmlns:p14="http://schemas.microsoft.com/office/powerpoint/2010/main" val="911521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1AD801-1A6C-83B2-FA0D-7C0DFED063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Databricks: Silver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CDFB6-06FC-88F8-C75F-34B20149E09D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454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AF9279-D3B7-B171-F301-F5DD519970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Analytics-Ready Gold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65064-EC01-157D-B18A-E5396EFAB405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342900" lvl="1"/>
            <a:r>
              <a:rPr lang="en-US" dirty="0"/>
              <a:t>Designed specifically for </a:t>
            </a:r>
            <a:r>
              <a:rPr lang="en-US" b="1" dirty="0"/>
              <a:t>Power BI performance</a:t>
            </a:r>
          </a:p>
          <a:p>
            <a:pPr marL="342900" lvl="1"/>
            <a:r>
              <a:rPr lang="en-US" b="1" dirty="0"/>
              <a:t>Star Schema Maintained (Fact + Dimensions)</a:t>
            </a:r>
          </a:p>
          <a:p>
            <a:pPr marL="342900" lvl="1"/>
            <a:r>
              <a:rPr lang="en-US" b="1" dirty="0"/>
              <a:t>Incremental Merge Logic	(Ensuring No Schema Break)</a:t>
            </a:r>
          </a:p>
        </p:txBody>
      </p:sp>
    </p:spTree>
    <p:extLst>
      <p:ext uri="{BB962C8B-B14F-4D97-AF65-F5344CB8AC3E}">
        <p14:creationId xmlns:p14="http://schemas.microsoft.com/office/powerpoint/2010/main" val="3110085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8E9D9D-849F-B0B6-0E04-A157B1C8A8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Security And Authentication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F7F7F3-CB2F-B9C4-4596-13F69823B180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1646042" y="1425140"/>
            <a:ext cx="537846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Managed identities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access patterns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No hardcoded secrets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Services authenticate using Azure-native identity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Enterprise-grade security posture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230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DA656C-675F-49AE-095F-1A3F4B8B26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Automation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A507BF-F33B-768E-7316-4330F99BD601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1734912" y="1687175"/>
            <a:ext cx="33779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Scheduled triggers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Notebook execution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Real Time Power  Bi Update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9B7DE2-EEDF-9B28-6CA0-386501E9F0D1}"/>
              </a:ext>
            </a:extLst>
          </p:cNvPr>
          <p:cNvSpPr txBox="1"/>
          <p:nvPr/>
        </p:nvSpPr>
        <p:spPr>
          <a:xfrm>
            <a:off x="1734912" y="3647331"/>
            <a:ext cx="6101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deployed, the system runs end-to-end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Ingestion, transformation, and publishing require no manual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Failures are isolated and recoverable</a:t>
            </a:r>
          </a:p>
        </p:txBody>
      </p:sp>
    </p:spTree>
    <p:extLst>
      <p:ext uri="{BB962C8B-B14F-4D97-AF65-F5344CB8AC3E}">
        <p14:creationId xmlns:p14="http://schemas.microsoft.com/office/powerpoint/2010/main" val="2083083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A85B5-D231-87AD-A4E4-28DEC0087B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Power BI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BAAC8A-E558-3BA9-7E7F-71ADBFDF5826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1646042" y="1768455"/>
            <a:ext cx="248016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Executive overview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Carrier performance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</a:t>
            </a:r>
          </a:p>
        </p:txBody>
      </p:sp>
    </p:spTree>
    <p:extLst>
      <p:ext uri="{BB962C8B-B14F-4D97-AF65-F5344CB8AC3E}">
        <p14:creationId xmlns:p14="http://schemas.microsoft.com/office/powerpoint/2010/main" val="3537650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DB2B9B-DFAC-0E48-FC1D-B5B0DA45A3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2231E3-9529-67C1-4CEA-48C828D42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Group 1</a:t>
            </a:r>
          </a:p>
        </p:txBody>
      </p:sp>
    </p:spTree>
    <p:extLst>
      <p:ext uri="{BB962C8B-B14F-4D97-AF65-F5344CB8AC3E}">
        <p14:creationId xmlns:p14="http://schemas.microsoft.com/office/powerpoint/2010/main" val="328550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M">
      <a:dk1>
        <a:srgbClr val="595959"/>
      </a:dk1>
      <a:lt1>
        <a:srgbClr val="FFFFFF"/>
      </a:lt1>
      <a:dk2>
        <a:srgbClr val="000000"/>
      </a:dk2>
      <a:lt2>
        <a:srgbClr val="FFFFFF"/>
      </a:lt2>
      <a:accent1>
        <a:srgbClr val="BCD9F3"/>
      </a:accent1>
      <a:accent2>
        <a:srgbClr val="97C4EC"/>
      </a:accent2>
      <a:accent3>
        <a:srgbClr val="60A5E2"/>
      </a:accent3>
      <a:accent4>
        <a:srgbClr val="EF7C00"/>
      </a:accent4>
      <a:accent5>
        <a:srgbClr val="C8CA05"/>
      </a:accent5>
      <a:accent6>
        <a:srgbClr val="33682B"/>
      </a:accent6>
      <a:hlink>
        <a:srgbClr val="64B3E3"/>
      </a:hlink>
      <a:folHlink>
        <a:srgbClr val="004683"/>
      </a:folHlink>
    </a:clrScheme>
    <a:fontScheme name="Frutiger">
      <a:majorFont>
        <a:latin typeface="Frutiger 45 bold"/>
        <a:ea typeface=""/>
        <a:cs typeface=""/>
      </a:majorFont>
      <a:minorFont>
        <a:latin typeface="Frutiger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TIMindtree PowerPoint Template  -  Read-Only" id="{D2D078E9-0747-433B-9A53-87E4E1206723}" vid="{02E04BAB-B372-49B2-8DFC-CCA9479795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668FDB297BA418F5A6539855E71B7" ma:contentTypeVersion="3" ma:contentTypeDescription="Create a new document." ma:contentTypeScope="" ma:versionID="4294c225a3417baf4b70885d580e1778">
  <xsd:schema xmlns:xsd="http://www.w3.org/2001/XMLSchema" xmlns:xs="http://www.w3.org/2001/XMLSchema" xmlns:p="http://schemas.microsoft.com/office/2006/metadata/properties" xmlns:ns2="88563cb8-e9e3-40d4-951f-126d0c29510d" xmlns:ns3="dc0ddbac-d92f-4135-ae82-46af643a22eb" targetNamespace="http://schemas.microsoft.com/office/2006/metadata/properties" ma:root="true" ma:fieldsID="4f00704ce9a2416b2cdaa5d136de8e77" ns2:_="" ns3:_="">
    <xsd:import namespace="88563cb8-e9e3-40d4-951f-126d0c29510d"/>
    <xsd:import namespace="dc0ddbac-d92f-4135-ae82-46af643a22e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63cb8-e9e3-40d4-951f-126d0c29510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0ddbac-d92f-4135-ae82-46af643a2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8563cb8-e9e3-40d4-951f-126d0c29510d">QUMXH5H4ZXKS-875811578-11</_dlc_DocId>
    <_dlc_DocIdUrl xmlns="88563cb8-e9e3-40d4-951f-126d0c29510d">
      <Url>https://mindtreeonline.sharepoint.com/sites/LTIMindtree-Corporate-Templates/_layouts/15/DocIdRedir.aspx?ID=QUMXH5H4ZXKS-875811578-11</Url>
      <Description>QUMXH5H4ZXKS-875811578-11</Description>
    </_dlc_DocIdUrl>
  </documentManagement>
</p:properties>
</file>

<file path=customXml/itemProps1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74493-4661-4534-A819-8424B96FDD6F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BACBCD0B-8E49-473F-9B37-931C1D238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4C55CB52-33A3-4B47-8C1D-0EE24875E3DC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LTIMindtree PowerPoint Template - Capstone Project</Template>
  <TotalTime>542</TotalTime>
  <Words>492</Words>
  <Application>Microsoft Office PowerPoint</Application>
  <PresentationFormat>Widescreen</PresentationFormat>
  <Paragraphs>109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Frutiger 45 bold</vt:lpstr>
      <vt:lpstr>Frutiger 45 Light</vt:lpstr>
      <vt:lpstr>Frutiger LT Pro 45 Light</vt:lpstr>
      <vt:lpstr>Frutiger LT Pro 55 Roman</vt:lpstr>
      <vt:lpstr>Symbol</vt:lpstr>
      <vt:lpstr>Wingdings</vt:lpstr>
      <vt:lpstr>Office Theme</vt:lpstr>
      <vt:lpstr>Logistics Cost &amp; Delivery Analytics (ADLS + ADF + Databricks + Power BI)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Drupad Dev P</dc:creator>
  <cp:lastModifiedBy>Drupad Dev P-AM.EN.U4EAC21028</cp:lastModifiedBy>
  <cp:revision>2</cp:revision>
  <dcterms:created xsi:type="dcterms:W3CDTF">2026-02-10T14:20:22Z</dcterms:created>
  <dcterms:modified xsi:type="dcterms:W3CDTF">2026-02-11T03:15:34Z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0x0101001EE668FDB297BA418F5A6539855E71B7</vt:lpwstr>
  </property>
  <property fmtid="{D5CDD505-2E9C-101B-9397-08002B2CF9AE}" pid="3" name="_dlc_DocIdItemGuid">
    <vt:lpwstr>36da67c7-b504-4aea-865b-0e87cedc899d</vt:lpwstr>
  </property>
</Properties>
</file>